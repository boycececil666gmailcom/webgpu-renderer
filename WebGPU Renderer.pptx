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xmlns:p="http://schemas.openxmlformats.org/presentationml/2006/main"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theme" Target="theme/theme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8F326-38F9-40E9-844A-EC66DA56CEC0}" type="datetimeFigureOut">
              <a:rPr lang="en-US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DB33E-DF1A-4DDD-8617-8BEBD58B3BBA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5B21-E8EE-4505-87E0-7B7F2C3DBBD0}" type="datetimeFigureOut">
              <a:rPr lang="zh-CN"/>
              <a:t>2026/10/17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6D5D-A00E-4AA9-84F2-364CBECE0EE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09E6-1126-4CCC-8F95-892B304C12E9}" type="datetimeFigureOut">
              <a:rPr lang="zh-CN"/>
              <a:t>2026/10/17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0F9E-EF7E-4C26-8662-25A73F2263DD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82BF-5467-4883-8896-824F7369BC9A}" type="datetimeFigureOut">
              <a:rPr lang="zh-CN"/>
              <a:t>2026/10/17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18080-B33E-4073-8615-72D8F5AE8F78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6248-C912-41CA-84D9-08E1C7982093}" type="datetimeFigureOut">
              <a:rPr lang="zh-CN"/>
              <a:t>2026/10/17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9569-04AF-4288-8880-64CE52ABE7A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B636-F4D9-4299-85F9-44D23E27C49C}" type="datetimeFigureOut">
              <a:rPr lang="zh-CN"/>
              <a:t>2026/10/17</a:t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3E07-937E-4FED-8300-89129584345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C346-E4DF-45C0-848B-E2AC5513E0D5}" type="datetimeFigureOut">
              <a:rPr lang="zh-CN"/>
              <a:t>2026/10/17</a:t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B55B-FA15-48BA-860D-0231187503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B29E-DC2A-4D67-887F-3BE2DC8489D6}" type="datetimeFigureOut">
              <a:rPr lang="zh-CN"/>
              <a:t>2026/10/17</a:t>
            </a:fld>
            <a:endParaRPr 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EBC0-ADA9-4FA7-889C-9287646BC79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563BD-7186-488E-816C-8F41FA24179F}" type="datetimeFigureOut">
              <a:rPr lang="zh-CN"/>
              <a:t>2026/10/17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25AB8-FB3A-479C-8780-0B7E5F586C0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2C48-70E8-4C8D-81F4-17FB598144B8}" type="datetimeFigureOut">
              <a:rPr lang="zh-CN"/>
              <a:t>2026/10/17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C29A-6C4F-4141-86E3-1A3E2D58E3A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2B83-4DFE-444B-8222-D5FF1EA6B44C}" type="datetimeFigureOut">
              <a:rPr lang="zh-CN"/>
              <a:t>2026/10/17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C649-D3E0-46CB-87C1-67136E4226A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A40F9-1701-4EB4-806D-4ED861E7A003}" type="datetimeFigureOut">
              <a:rPr lang="zh-CN"/>
              <a:t>2026/10/17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E78A-EB3E-401E-81B5-D7F53201DAF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DADCF-DC63-475D-8D69-AEBF4EDF3BBC}" type="datetimeFigureOut">
              <a:rPr lang="zh-CN"/>
              <a:t>2026/10/17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e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WebGPU</a:t>
            </a:r>
            <a:r>
              <a:rPr lang="en-US"/>
              <a:t>-Renderer</a:t>
            </a:r>
            <a:br>
              <a:rPr lang="en-US"/>
            </a:br>
            <a:r>
              <a:rPr lang="en-US" sz="3600"/>
              <a:t>A</a:t>
            </a:r>
            <a:r>
              <a:rPr lang="en-US"/>
              <a:t> </a:t>
            </a:r>
            <a:r>
              <a:rPr lang="en-US" sz="3600"/>
              <a:t>Data-driven </a:t>
            </a:r>
            <a:r>
              <a:rPr lang="en-US" sz="3600"/>
              <a:t>gltf</a:t>
            </a:r>
            <a:r>
              <a:rPr lang="en-US" sz="3600"/>
              <a:t> renderer with enhanced ability</a:t>
            </a:r>
            <a:br>
              <a:rPr lang="en-US"/>
            </a:br>
            <a:r>
              <a:rPr lang="en-US"/>
              <a:t>Car rendering case study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20449"/>
            <a:ext cx="9144000" cy="54404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/>
              <a:t>Tyrion Bao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Showcase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4524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Visual analysis – plant animation</a:t>
            </a:r>
          </a:p>
        </p:txBody>
      </p:sp>
      <p:pic>
        <p:nvPicPr>
          <p:cNvPr id="9" name="Content Placeholder 8"/>
          <p:cNvPicPr>
            <a:picLocks noChangeAspect="1" noGrp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838200" y="2828534"/>
            <a:ext cx="6315121" cy="2943247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838200" y="13722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Hierarchical GPU Vertex Shader Wind</a:t>
            </a:r>
            <a:r>
              <a:rPr lang="en-US"/>
              <a:t> </a:t>
            </a:r>
          </a:p>
          <a:p>
            <a:r>
              <a:rPr lang="en-US" sz="3200"/>
              <a:t>using encoded vertex attributes</a:t>
            </a:r>
            <a:endParaRPr lang="en-US"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45247"/>
            <a:ext cx="10515600" cy="257685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/>
              <a:t>Visual analysis – plant scatter</a:t>
            </a:r>
            <a:br>
              <a:rPr lang="en-US"/>
            </a:br>
            <a:r>
              <a:rPr lang="en-US" b="1"/>
              <a:t>Ecotone Gradient Scatterer with Variable-Radius Poisson Disk Sampling and Noise-Modulated Density</a:t>
            </a:r>
            <a:endParaRPr lang="en-US"/>
          </a:p>
        </p:txBody>
      </p:sp>
      <p:sp>
        <p:nvSpPr>
          <p:cNvPr id="10" name="标题 1"/>
          <p:cNvSpPr txBox="1"/>
          <p:nvPr/>
        </p:nvSpPr>
        <p:spPr>
          <a:xfrm>
            <a:off x="838200" y="13722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257800" y="2819400"/>
            <a:ext cx="3181160" cy="189161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6200" y="2819400"/>
            <a:ext cx="5272317" cy="28885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257800" y="4711018"/>
            <a:ext cx="3471448" cy="1301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/>
              <a:t>Performance analysis - Plant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6335" y="1547329"/>
            <a:ext cx="4881769" cy="46037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Foliage Card optimization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82412" y="2137884"/>
            <a:ext cx="4959871" cy="2016887"/>
          </a:xfrm>
          <a:prstGeom prst="rect">
            <a:avLst/>
          </a:prstGeom>
        </p:spPr>
      </p:pic>
      <p:sp>
        <p:nvSpPr>
          <p:cNvPr id="10" name="内容占位符 2"/>
          <p:cNvSpPr txBox="1"/>
          <p:nvPr/>
        </p:nvSpPr>
        <p:spPr>
          <a:xfrm>
            <a:off x="382412" y="4285987"/>
            <a:ext cx="4881769" cy="460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Screen-Size-Based</a:t>
            </a:r>
            <a:r>
              <a:rPr lang="en-US" b="1"/>
              <a:t> </a:t>
            </a:r>
            <a:r>
              <a:rPr lang="en-US"/>
              <a:t>LOD selection</a:t>
            </a:r>
          </a:p>
        </p:txBody>
      </p:sp>
      <p:sp>
        <p:nvSpPr>
          <p:cNvPr id="11" name="内容占位符 2"/>
          <p:cNvSpPr txBox="1"/>
          <p:nvPr/>
        </p:nvSpPr>
        <p:spPr>
          <a:xfrm>
            <a:off x="5567570" y="1533456"/>
            <a:ext cx="4881769" cy="4603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/>
          </a:p>
          <a:p>
            <a:pPr marL="0" indent="0">
              <a:buFont typeface="Arial"/>
              <a:buNone/>
            </a:pPr>
            <a:endParaRPr lang="en-US"/>
          </a:p>
          <a:p>
            <a:pPr marL="0" indent="0">
              <a:buFont typeface="Arial"/>
              <a:buNone/>
            </a:pPr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2412" y="4746362"/>
            <a:ext cx="3395870" cy="1843710"/>
          </a:xfrm>
          <a:prstGeom prst="rect">
            <a:avLst/>
          </a:prstGeom>
        </p:spPr>
      </p:pic>
      <p:sp>
        <p:nvSpPr>
          <p:cNvPr id="16" name="内容占位符 2"/>
          <p:cNvSpPr txBox="1"/>
          <p:nvPr/>
        </p:nvSpPr>
        <p:spPr>
          <a:xfrm>
            <a:off x="5567571" y="1547329"/>
            <a:ext cx="3531704" cy="510071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600"/>
              <a:t>Model LOD preprocessing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8" name="内容占位符 2"/>
          <p:cNvSpPr txBox="1"/>
          <p:nvPr/>
        </p:nvSpPr>
        <p:spPr>
          <a:xfrm>
            <a:off x="5567570" y="1993831"/>
            <a:ext cx="6242018" cy="179884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LOD-1- original</a:t>
            </a:r>
            <a:endParaRPr lang="en-US" sz="8800"/>
          </a:p>
          <a:p>
            <a:r>
              <a:rPr lang="en-US"/>
              <a:t>LOD0 -Material consolidation</a:t>
            </a:r>
            <a:endParaRPr lang="en-US" sz="8800"/>
          </a:p>
          <a:p>
            <a:r>
              <a:rPr lang="en-US"/>
              <a:t>LOD1 - trunk decimate modifier+ Leaf card reduction + Scale for silhouette compensation</a:t>
            </a:r>
            <a:endParaRPr lang="en-US" sz="8800"/>
          </a:p>
          <a:p>
            <a:r>
              <a:rPr lang="en-US"/>
              <a:t>LOD2 -LOD1 with higher intensity</a:t>
            </a:r>
            <a:endParaRPr lang="en-US" sz="8800"/>
          </a:p>
          <a:p>
            <a:r>
              <a:rPr lang="en-US"/>
              <a:t>LOD3 –Crossing billboard imposter</a:t>
            </a:r>
            <a:endParaRPr lang="en-US" sz="8800"/>
          </a:p>
          <a:p>
            <a:pPr marL="0" indent="0">
              <a:buNone/>
            </a:pPr>
            <a:endParaRPr lang="en-US" sz="8600"/>
          </a:p>
          <a:p>
            <a:pPr marL="0" indent="0">
              <a:buNone/>
            </a:pPr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89468" y="3792676"/>
            <a:ext cx="1928185" cy="882010"/>
          </a:xfrm>
          <a:prstGeom prst="rect">
            <a:avLst/>
          </a:prstGeom>
        </p:spPr>
      </p:pic>
      <p:sp>
        <p:nvSpPr>
          <p:cNvPr id="22" name="内容占位符 2"/>
          <p:cNvSpPr txBox="1"/>
          <p:nvPr/>
        </p:nvSpPr>
        <p:spPr>
          <a:xfrm>
            <a:off x="5342283" y="4865342"/>
            <a:ext cx="3531704" cy="510071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600"/>
              <a:t>FURTHER PLAN:</a:t>
            </a:r>
          </a:p>
          <a:p>
            <a:pPr marL="0" indent="0">
              <a:buNone/>
            </a:pPr>
            <a:endParaRPr lang="en-US" sz="8600"/>
          </a:p>
          <a:p>
            <a:pPr marL="0" indent="0">
              <a:buNone/>
            </a:pPr>
            <a:endParaRPr lang="en-US"/>
          </a:p>
        </p:txBody>
      </p:sp>
      <p:sp>
        <p:nvSpPr>
          <p:cNvPr id="24" name="内容占位符 2"/>
          <p:cNvSpPr txBox="1"/>
          <p:nvPr/>
        </p:nvSpPr>
        <p:spPr>
          <a:xfrm>
            <a:off x="5342282" y="5385257"/>
            <a:ext cx="5560944" cy="1107618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200"/>
              <a:t>card bounding hulls to eliminate transparent pixel waste, hardware instanced rendering, spherical canopy normal transfers for soft lighting, dithered screen-door LOD cross-fading, octahedral impostors, and vertex/texture memory quantization.</a:t>
            </a:r>
          </a:p>
          <a:p>
            <a:pPr marL="0" indent="0">
              <a:buNone/>
            </a:pPr>
            <a:endParaRPr lang="en-US" sz="8600"/>
          </a:p>
          <a:p>
            <a:pPr marL="0" indent="0">
              <a:buNone/>
            </a:pPr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89468" y="4669353"/>
            <a:ext cx="3030948" cy="210732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520416" y="4669353"/>
            <a:ext cx="3012388" cy="21073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Technologies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96041"/>
            <a:ext cx="10448855" cy="5113202"/>
          </a:xfrm>
          <a:prstGeom prst="rect">
            <a:avLst/>
          </a:prstGeom>
        </p:spPr>
        <p:txBody>
          <a:bodyPr>
            <a:normAutofit fontScale="68953" lnSpcReduction="20000"/>
          </a:bodyPr>
          <a:lstStyle/>
          <a:p>
            <a:r>
              <a:rPr lang="en-US" sz="4800"/>
              <a:t>Renderer architecture</a:t>
            </a:r>
            <a:endParaRPr sz="4800"/>
          </a:p>
          <a:p>
            <a:r>
              <a:rPr lang="en-US" sz="4800"/>
              <a:t>Render Graph deepdive</a:t>
            </a:r>
            <a:endParaRPr lang="en-US" sz="4800"/>
          </a:p>
          <a:p>
            <a:r>
              <a:rPr lang="en-US" sz="4800"/>
              <a:t>MCP for blender</a:t>
            </a:r>
            <a:endParaRPr lang="en-US" sz="4800"/>
          </a:p>
          <a:p>
            <a:r>
              <a:rPr lang="en-US" sz="4800"/>
              <a:t>GLTF/GLB file extension</a:t>
            </a:r>
            <a:endParaRPr sz="4800"/>
          </a:p>
          <a:p>
            <a:r>
              <a:rPr lang="en-US" sz="4800"/>
              <a:t>Android OS/ ADB debugging/ APK file extension/ Cross compiling</a:t>
            </a:r>
            <a:endParaRPr sz="4800"/>
          </a:p>
          <a:p>
            <a:r>
              <a:rPr lang="en-US" sz="4800"/>
              <a:t>Rust</a:t>
            </a:r>
            <a:endParaRPr sz="4800"/>
          </a:p>
          <a:p>
            <a:r>
              <a:rPr lang="en-US" sz="4800"/>
              <a:t>LLVM cross compilation</a:t>
            </a:r>
            <a:endParaRPr sz="4800"/>
          </a:p>
          <a:p>
            <a:r>
              <a:rPr lang="en-US" sz="4800"/>
              <a:t>Lua</a:t>
            </a:r>
            <a:endParaRPr sz="4800"/>
          </a:p>
          <a:p>
            <a:r>
              <a:rPr lang="en-US" sz="4800"/>
              <a:t>WSGL</a:t>
            </a:r>
            <a:endParaRPr lang="en-US" sz="4800"/>
          </a:p>
          <a:p>
            <a:r>
              <a:rPr lang="en-US" sz="4800"/>
              <a:t>Botaniq blender plugin for plant resources</a:t>
            </a:r>
            <a:endParaRPr sz="4800"/>
          </a:p>
        </p:txBody>
      </p:sp>
      <p:sp>
        <p:nvSpPr>
          <p:cNvPr id="4" name="内容占位符 2"/>
          <p:cNvSpPr txBox="1"/>
          <p:nvPr/>
        </p:nvSpPr>
        <p:spPr>
          <a:xfrm>
            <a:off x="1126435" y="4146412"/>
            <a:ext cx="4842013" cy="27960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Renderer architecture</a:t>
            </a:r>
            <a:endParaRPr lang="zh-C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90600" y="1371600"/>
            <a:ext cx="5821874" cy="4678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3900" y="66951"/>
            <a:ext cx="7872795" cy="1062272"/>
          </a:xfrm>
          <a:prstGeom prst="rect">
            <a:avLst/>
          </a:prstGeom>
        </p:spPr>
        <p:txBody>
          <a:bodyPr/>
          <a:lstStyle/>
          <a:p>
            <a:r>
              <a:rPr lang="en-US" sz="5400"/>
              <a:t>Render graph deep dive</a:t>
            </a:r>
            <a:endParaRPr sz="54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77957" y="1824867"/>
            <a:ext cx="4237360" cy="441690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257800" y="1734793"/>
            <a:ext cx="3551683" cy="5033133"/>
          </a:xfrm>
          <a:prstGeom prst="rect">
            <a:avLst/>
          </a:prstGeom>
        </p:spPr>
      </p:pic>
      <p:sp>
        <p:nvSpPr>
          <p:cNvPr id="12" name="标题 1"/>
          <p:cNvSpPr txBox="1"/>
          <p:nvPr/>
        </p:nvSpPr>
        <p:spPr>
          <a:xfrm>
            <a:off x="5295874" y="1392514"/>
            <a:ext cx="2469875" cy="342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3445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Per mesh Cook-Torrance BRDF</a:t>
            </a:r>
          </a:p>
        </p:txBody>
      </p:sp>
      <p:sp>
        <p:nvSpPr>
          <p:cNvPr id="14" name="标题 1"/>
          <p:cNvSpPr txBox="1"/>
          <p:nvPr/>
        </p:nvSpPr>
        <p:spPr>
          <a:xfrm>
            <a:off x="798444" y="1392514"/>
            <a:ext cx="2469875" cy="342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Whole render graph</a:t>
            </a:r>
          </a:p>
        </p:txBody>
      </p:sp>
      <p:sp>
        <p:nvSpPr>
          <p:cNvPr id="15" name="Rectangle 14"/>
          <p:cNvSpPr/>
          <p:nvPr/>
        </p:nvSpPr>
        <p:spPr>
          <a:xfrm flipV="1">
            <a:off x="1247362" y="3429000"/>
            <a:ext cx="1823830" cy="24350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/>
          <p:cNvSpPr/>
          <p:nvPr/>
        </p:nvSpPr>
        <p:spPr>
          <a:xfrm>
            <a:off x="3170565" y="3473727"/>
            <a:ext cx="2365531" cy="243509"/>
          </a:xfrm>
          <a:prstGeom prst="rightArrow">
            <a:avLst>
              <a:gd name="adj1" fmla="val 47260"/>
              <a:gd name="adj2" fmla="val 787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MCP for Blender</a:t>
            </a:r>
            <a:endParaRPr lang="zh-C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24320" y="1201324"/>
            <a:ext cx="5633580" cy="503794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16694" y="1201324"/>
            <a:ext cx="3867648" cy="281408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216694" y="4015409"/>
            <a:ext cx="5813342" cy="19580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GLTF/GLB extension</a:t>
            </a:r>
            <a:endParaRPr lang="zh-C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81652" y="1496341"/>
            <a:ext cx="4495833" cy="42529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Android OS</a:t>
            </a:r>
            <a:endParaRPr lang="zh-C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504519" y="1322940"/>
            <a:ext cx="5182962" cy="53107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Rust</a:t>
            </a:r>
            <a:endParaRPr lang="zh-CN"/>
          </a:p>
        </p:txBody>
      </p:sp>
      <p:sp>
        <p:nvSpPr>
          <p:cNvPr id="3" name="标题 1"/>
          <p:cNvSpPr txBox="1"/>
          <p:nvPr/>
        </p:nvSpPr>
        <p:spPr>
          <a:xfrm>
            <a:off x="838200" y="1441863"/>
            <a:ext cx="992587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/>
              <a:t>Rust is a “evolved” version of </a:t>
            </a:r>
            <a:r>
              <a:rPr lang="en-US" sz="2000"/>
              <a:t>cpp</a:t>
            </a:r>
            <a:r>
              <a:rPr lang="en-US" sz="2000"/>
              <a:t> which enables memory efficiency by avoiding GC and safety through compilation safety rules.</a:t>
            </a:r>
          </a:p>
          <a:p>
            <a:endParaRPr lang="en-US" sz="2000"/>
          </a:p>
          <a:p>
            <a:r>
              <a:rPr lang="en-US" sz="2000"/>
              <a:t>The language is harder to write and compile compared to CPP due to the additional syntax rules but much easier to maintain later than </a:t>
            </a:r>
            <a:r>
              <a:rPr lang="en-US" sz="2000"/>
              <a:t>cpp</a:t>
            </a:r>
            <a:r>
              <a:rPr lang="en-US" sz="2000"/>
              <a:t>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WGSL</a:t>
            </a:r>
            <a:endParaRPr lang="zh-C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88503" y="1595230"/>
            <a:ext cx="6036099" cy="45570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LLVM cross compilation</a:t>
            </a:r>
            <a:endParaRPr 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897835" y="1302716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700"/>
                  <a:t>LLVM works on a lot of different languages by using the LLVM IR as the bridge between the target platform code and the source code.</a:t>
                </a:r>
              </a:p>
              <a:p>
                <a:r>
                  <a:rPr lang="en-US" sz="1700"/>
                  <a:t>Decoupled Architecture: This reduces the implementation complexity from an </a:t>
                </a:r>
                <a14:m xmlns:a14="http://schemas.microsoft.com/office/drawing/2010/main">
                  <m:oMath xmlns:m="http://schemas.openxmlformats.org/officeDocument/2006/math" xmlns:a="http://schemas.openxmlformats.org/drawingml/2006/main">
                    <m:r>
                      <a:rPr lang="en-US" sz="17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7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70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700"/>
                  <a:t> (for </a:t>
                </a:r>
                <a14:m xmlns:a14="http://schemas.microsoft.com/office/drawing/2010/main">
                  <m:oMath xmlns:m="http://schemas.openxmlformats.org/officeDocument/2006/math" xmlns:a="http://schemas.openxmlformats.org/drawingml/2006/main">
                    <m:r>
                      <a:rPr lang="en-US" sz="17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700"/>
                  <a:t> languages and </a:t>
                </a:r>
                <a14:m xmlns:a14="http://schemas.microsoft.com/office/drawing/2010/main">
                  <m:oMath xmlns:m="http://schemas.openxmlformats.org/officeDocument/2006/math" xmlns:a="http://schemas.openxmlformats.org/drawingml/2006/main">
                    <m:r>
                      <a:rPr lang="en-US" sz="170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700"/>
                  <a:t> hardware architectures) down to </a:t>
                </a:r>
                <a14:m xmlns:a14="http://schemas.microsoft.com/office/drawing/2010/main">
                  <m:oMath xmlns:m="http://schemas.openxmlformats.org/officeDocument/2006/math" xmlns:a="http://schemas.openxmlformats.org/drawingml/2006/main">
                    <m:r>
                      <a:rPr lang="en-US" sz="17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7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70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700"/>
                  <a:t>.</a:t>
                </a:r>
                <a:endParaRPr lang="zh-CN" sz="1700"/>
              </a:p>
            </p:txBody>
          </p:sp>
        </mc:Choice>
        <mc:Fallback>
          <p:sp>
            <p:nvSpPr>
              <p:cNvPr id="3" name="标题 1"/>
              <p:cNvSpPr txBox="1"/>
              <p:nvPr/>
            </p:nvSpPr>
            <p:spPr>
              <a:xfrm>
                <a:off x="897835" y="1302716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700"/>
                  <a:t>LLVM works on a lot of different languages by using the LLVM IR as the bridge between the target platform code and the source code.</a:t>
                </a:r>
              </a:p>
              <a:p>
                <a:r>
                  <a:rPr lang="en-US" sz="1700"/>
                  <a:t>Decoupled Architecture: This reduces the implementation complexity from an </a:t>
                </a:r>
                <a:r>
                  <a:rPr/>
                  <a:t>𝑛×𝑚</a:t>
                </a:r>
                <a:r>
                  <a:rPr lang="en-US" sz="1700"/>
                  <a:t> (for </a:t>
                </a:r>
                <a:r>
                  <a:rPr/>
                  <a:t>𝑛</a:t>
                </a:r>
                <a:r>
                  <a:rPr lang="en-US" sz="1700"/>
                  <a:t> languages and </a:t>
                </a:r>
                <a:r>
                  <a:rPr/>
                  <a:t>𝑚</a:t>
                </a:r>
                <a:r>
                  <a:rPr lang="en-US" sz="1700"/>
                  <a:t> hardware architectures) down to </a:t>
                </a:r>
                <a:r>
                  <a:rPr/>
                  <a:t>𝑛+𝑚</a:t>
                </a:r>
                <a:r>
                  <a:rPr lang="en-US" sz="1700"/>
                  <a:t>.</a:t>
                </a:r>
                <a:endParaRPr lang="zh-CN" sz="1700"/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7835" y="2628279"/>
            <a:ext cx="5642113" cy="29923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Lua</a:t>
            </a:r>
            <a:endParaRPr lang="zh-C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70892" y="2077357"/>
            <a:ext cx="1782332" cy="1351643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617883" y="1571248"/>
            <a:ext cx="10903225" cy="615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Superficially</a:t>
            </a:r>
            <a:r>
              <a:rPr lang="en-US" sz="1600"/>
              <a:t>, it’s very similar to python</a:t>
            </a:r>
            <a:r>
              <a:rPr lang="en-US" sz="1600"/>
              <a:t>—both are dynamic, garbage-collected, interpreted-bytecode scripting languages written in C with first-class functions.</a:t>
            </a:r>
            <a:endParaRPr lang="en-US" sz="1600"/>
          </a:p>
          <a:p>
            <a:endParaRPr lang="zh-CN" sz="1600"/>
          </a:p>
        </p:txBody>
      </p:sp>
      <p:sp>
        <p:nvSpPr>
          <p:cNvPr id="8" name="标题 1"/>
          <p:cNvSpPr txBox="1"/>
          <p:nvPr/>
        </p:nvSpPr>
        <p:spPr>
          <a:xfrm>
            <a:off x="617883" y="3518452"/>
            <a:ext cx="10515600" cy="932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Architecturally and philosophically, they are near-opposites: Python is a standalone, "batteries-included" monolith built around rich object-oriented abstractions and an enormous standard library,</a:t>
            </a:r>
          </a:p>
          <a:p>
            <a:r>
              <a:rPr lang="en-US" sz="1600"/>
              <a:t>while Lua is an ultra-minimal, embeddable configuration-and-scripting library with only one data structure and no native class mechanism.</a:t>
            </a:r>
            <a:endParaRPr lang="zh-CN" sz="160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0892" y="4450689"/>
            <a:ext cx="2339757" cy="1896217"/>
          </a:xfrm>
          <a:prstGeom prst="rect">
            <a:avLst/>
          </a:prstGeom>
        </p:spPr>
      </p:pic>
      <p:sp>
        <p:nvSpPr>
          <p:cNvPr id="12" name="标题 1"/>
          <p:cNvSpPr txBox="1"/>
          <p:nvPr/>
        </p:nvSpPr>
        <p:spPr>
          <a:xfrm>
            <a:off x="3063658" y="4282108"/>
            <a:ext cx="6660984" cy="932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The only data structure in Lua is table which combines array and hash table</a:t>
            </a:r>
            <a:endParaRPr lang="zh-CN" sz="160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152363" y="4916996"/>
            <a:ext cx="1570820" cy="13901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Botaniq</a:t>
            </a:r>
            <a:endParaRPr lang="zh-C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44173" y="1406387"/>
            <a:ext cx="9176836" cy="50181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 the end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57877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About my career plan</a:t>
            </a:r>
            <a:endParaRPr lang="en-US"/>
          </a:p>
          <a:p>
            <a:r>
              <a:rPr lang="en-US"/>
              <a:t>About understanding the fundamental ( like the BSDF and PBR from a deeper level)</a:t>
            </a:r>
            <a:endParaRPr lang="en-US"/>
          </a:p>
          <a:p>
            <a:r>
              <a:rPr lang="en-US"/>
              <a:t>About AI usage</a:t>
            </a:r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43400" y="1295400"/>
            <a:ext cx="1088647" cy="68349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581400" y="2667000"/>
            <a:ext cx="929105" cy="6245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Thanks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18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Tyrion Bao</dc:creator>
  <cp:lastModifiedBy>Tyrion Bao</cp:lastModifiedBy>
  <cp:revision>1</cp:revision>
  <dcterms:created xsi:type="dcterms:W3CDTF">2026-10-02T07:39:55Z</dcterms:created>
  <dcterms:modified xsi:type="dcterms:W3CDTF">2026-10-18T17:18:10Z</dcterms:modified>
</cp:coreProperties>
</file>