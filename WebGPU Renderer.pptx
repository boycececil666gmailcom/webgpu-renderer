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srgbClr val="FF0000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6" d="100"/>
          <a:sy n="96" d="100"/>
        </p:scale>
        <p:origin x="312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98F326-38F9-40E9-844A-EC66DA56CEC0}" type="datetimeFigureOut">
              <a:rPr lang="en-US"/>
              <a:t>10/19/2026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44DB33E-DF1A-4DDD-8617-8BEBD58B3BBA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/>
              <a:t>单击此处编辑母版副标题样式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395B21-E8EE-4505-87E0-7B7F2C3DBBD0}" type="datetimeFigureOut">
              <a:rPr lang="en-US" altLang="zh-CN"/>
              <a:t>2026/10/19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DC6D5D-A00E-4AA9-84F2-364CBECE0EEA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E609E6-1126-4CCC-8F95-892B304C12E9}" type="datetimeFigureOut">
              <a:rPr lang="en-US" altLang="zh-CN"/>
              <a:t>2026/10/19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D0F9E-EF7E-4C26-8662-25A73F2263DD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lang="zh-CN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/>
              <a:t>单击此处编辑母版文本样式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3082BF-5467-4883-8896-824F7369BC9A}" type="datetimeFigureOut">
              <a:rPr lang="en-US" altLang="zh-CN"/>
              <a:t>2026/10/19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7C18080-B33E-4073-8615-72D8F5AE8F78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66248-C912-41CA-84D9-08E1C7982093}" type="datetimeFigureOut">
              <a:rPr lang="en-US" altLang="zh-CN"/>
              <a:t>2026/10/19</a:t>
            </a:fld>
            <a:endParaRPr 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5CB9569-04AF-4288-8880-64CE52ABE7A3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zh-CN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zh-CN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FB636-F4D9-4299-85F9-44D23E27C49C}" type="datetimeFigureOut">
              <a:rPr lang="en-US" altLang="zh-CN"/>
              <a:t>2026/10/19</a:t>
            </a:fld>
            <a:endParaRPr lang="zh-CN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533E07-937E-4FED-8300-891295843456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5CAC346-E4DF-45C0-848B-E2AC5513E0D5}" type="datetimeFigureOut">
              <a:rPr lang="en-US" altLang="zh-CN"/>
              <a:t>2026/10/19</a:t>
            </a:fld>
            <a:endParaRPr lang="zh-CN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A28B55B-FA15-48BA-860D-0231187503D9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20B29E-DC2A-4D67-887F-3BE2DC8489D6}" type="datetimeFigureOut">
              <a:rPr lang="en-US" altLang="zh-CN"/>
              <a:t>2026/10/19</a:t>
            </a:fld>
            <a:endParaRPr lang="zh-CN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E0EBC0-ADA9-4FA7-889C-9287646BC794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C563BD-7186-488E-816C-8F41FA24179F}" type="datetimeFigureOut">
              <a:rPr lang="en-US" altLang="zh-CN"/>
              <a:t>2026/10/19</a:t>
            </a:fld>
            <a:endParaRPr 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DA25AB8-FB3A-479C-8780-0B7E5F586C0F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lang="zh-CN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EE02C48-70E8-4C8D-81F4-17FB598144B8}" type="datetimeFigureOut">
              <a:rPr lang="en-US" altLang="zh-CN"/>
              <a:t>2026/10/19</a:t>
            </a:fld>
            <a:endParaRPr lang="zh-CN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FC29A-6C4F-4141-86E3-1A3E2D58E3A2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602B83-4DFE-444B-8222-D5FF1EA6B44C}" type="datetimeFigureOut">
              <a:rPr lang="en-US" altLang="zh-CN"/>
              <a:t>2026/10/19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19C649-D3E0-46CB-87C1-67136E4226A6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FA40F9-1701-4EB4-806D-4ED861E7A003}" type="datetimeFigureOut">
              <a:rPr lang="en-US" altLang="zh-CN"/>
              <a:t>2026/10/19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EBE78A-EB3E-401E-81B5-D7F53201DAF3}" type="slidenum">
              <a:rPr lang="zh-CN"/>
              <a:t>‹#›</a:t>
            </a:fld>
            <a:endParaRPr lang="zh-CN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主题​​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zh-CN"/>
              <a:t>单击此处编辑母版文本样式</a:t>
            </a:r>
          </a:p>
          <a:p>
            <a:pPr lvl="1"/>
            <a:r>
              <a:rPr lang="zh-CN"/>
              <a:t>二级</a:t>
            </a:r>
          </a:p>
          <a:p>
            <a:pPr lvl="2"/>
            <a:r>
              <a:rPr lang="zh-CN"/>
              <a:t>三级</a:t>
            </a:r>
          </a:p>
          <a:p>
            <a:pPr lvl="3"/>
            <a:r>
              <a:rPr lang="zh-CN"/>
              <a:t>四级</a:t>
            </a:r>
          </a:p>
          <a:p>
            <a:pPr lvl="4"/>
            <a:r>
              <a:rPr lang="zh-CN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ADADCF-DC63-475D-8D69-AEBF4EDF3BBC}" type="datetimeFigureOut">
              <a:rPr lang="en-US" altLang="zh-CN"/>
              <a:t>2026/10/19</a:t>
            </a:fld>
            <a:endParaRPr 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3D6AB1-0FDA-49F1-8390-8828CE9E6676}" type="slidenum">
              <a:rPr lang="zh-CN"/>
              <a:t>‹#›</a:t>
            </a:fld>
            <a:endParaRPr 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jpe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WebGPU-Renderer</a:t>
            </a:r>
            <a:br>
              <a:rPr lang="en-US"/>
            </a:br>
            <a:r>
              <a:rPr lang="en-US" sz="3600"/>
              <a:t>A</a:t>
            </a:r>
            <a:r>
              <a:rPr lang="en-US"/>
              <a:t> </a:t>
            </a:r>
            <a:r>
              <a:rPr lang="en-US" sz="3600"/>
              <a:t>Data-driven gltf renderer with enhanced ability</a:t>
            </a:r>
            <a:br>
              <a:rPr lang="en-US"/>
            </a:br>
            <a:r>
              <a:rPr lang="en-US"/>
              <a:t>Car rendering case study</a:t>
            </a:r>
            <a:endParaRPr 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20449"/>
            <a:ext cx="9144000" cy="544047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/>
              <a:t>Tyrion Bao</a:t>
            </a:r>
            <a:endParaRPr lang="zh-CN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Showcase</a:t>
            </a:r>
            <a:endParaRPr 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zh-CN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45247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lang="en-US"/>
              <a:t>Visual analysis – plant animation</a:t>
            </a:r>
          </a:p>
        </p:txBody>
      </p:sp>
      <p:pic>
        <p:nvPicPr>
          <p:cNvPr id="9" name="Content Placeholder 8"/>
          <p:cNvPicPr>
            <a:picLocks noGrp="1" noChangeAspect="1"/>
          </p:cNvPicPr>
          <p:nvPr>
            <p:ph idx="1"/>
          </p:nvPr>
        </p:nvPicPr>
        <p:blipFill rotWithShape="1">
          <a:blip r:embed="rId2"/>
          <a:stretch>
            <a:fillRect/>
          </a:stretch>
        </p:blipFill>
        <p:spPr>
          <a:xfrm>
            <a:off x="838200" y="2828534"/>
            <a:ext cx="6315121" cy="2943247"/>
          </a:xfrm>
          <a:prstGeom prst="rect">
            <a:avLst/>
          </a:prstGeom>
        </p:spPr>
      </p:pic>
      <p:sp>
        <p:nvSpPr>
          <p:cNvPr id="10" name="标题 1"/>
          <p:cNvSpPr txBox="1"/>
          <p:nvPr/>
        </p:nvSpPr>
        <p:spPr>
          <a:xfrm>
            <a:off x="838200" y="1372291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/>
              <a:t>Hierarchical GPU Vertex Shader Wind</a:t>
            </a:r>
            <a:r>
              <a:rPr lang="en-US"/>
              <a:t> </a:t>
            </a:r>
          </a:p>
          <a:p>
            <a:r>
              <a:rPr lang="en-US" sz="3200"/>
              <a:t>using encoded vertex attributes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8200" y="345247"/>
            <a:ext cx="10515600" cy="2576857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/>
              <a:t>Visual analysis – plant scatter</a:t>
            </a:r>
            <a:br>
              <a:rPr lang="en-US"/>
            </a:br>
            <a:r>
              <a:rPr lang="en-US" b="0"/>
              <a:t>Ecotone Gradient Scatterer with Variable-Radius Poisson Disk Sampling and Noise-Modulated Density</a:t>
            </a:r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762000" y="2922104"/>
            <a:ext cx="5272317" cy="2888557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404313" y="4648200"/>
            <a:ext cx="4631549" cy="1685091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404313" y="2607222"/>
            <a:ext cx="3571775" cy="204097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309770" y="207893"/>
            <a:ext cx="10515600" cy="1325563"/>
          </a:xfrm>
          <a:prstGeom prst="rect">
            <a:avLst/>
          </a:prstGeom>
        </p:spPr>
        <p:txBody>
          <a:bodyPr/>
          <a:lstStyle/>
          <a:p>
            <a:pPr marL="0" indent="0">
              <a:buFont typeface="Arial"/>
              <a:buNone/>
            </a:pPr>
            <a:r>
              <a:rPr lang="en-US"/>
              <a:t>Performance analysis - Plant Asset preprocessing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26335" y="1547329"/>
            <a:ext cx="4881769" cy="460375"/>
          </a:xfrm>
          <a:prstGeom prst="rect">
            <a:avLst/>
          </a:prstGeo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/>
              <a:t>Foliage Card optimization 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endParaRPr lang="en-US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26335" y="1993831"/>
            <a:ext cx="4030944" cy="1648144"/>
          </a:xfrm>
          <a:prstGeom prst="rect">
            <a:avLst/>
          </a:prstGeom>
        </p:spPr>
      </p:pic>
      <p:sp>
        <p:nvSpPr>
          <p:cNvPr id="11" name="内容占位符 2"/>
          <p:cNvSpPr txBox="1"/>
          <p:nvPr/>
        </p:nvSpPr>
        <p:spPr>
          <a:xfrm>
            <a:off x="5567570" y="1533456"/>
            <a:ext cx="4881769" cy="460375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US"/>
          </a:p>
          <a:p>
            <a:pPr marL="0" indent="0">
              <a:buFont typeface="Arial"/>
              <a:buNone/>
            </a:pPr>
            <a:endParaRPr lang="en-US"/>
          </a:p>
          <a:p>
            <a:pPr marL="0" indent="0">
              <a:buFont typeface="Arial"/>
              <a:buNone/>
            </a:pPr>
            <a:endParaRPr lang="en-US"/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26335" y="3641975"/>
            <a:ext cx="4039551" cy="1848406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203012" y="3589786"/>
            <a:ext cx="2103969" cy="1502938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4988988" y="3589786"/>
            <a:ext cx="2214024" cy="1497741"/>
          </a:xfrm>
          <a:prstGeom prst="rect">
            <a:avLst/>
          </a:prstGeom>
        </p:spPr>
      </p:pic>
      <p:sp>
        <p:nvSpPr>
          <p:cNvPr id="18" name="内容占位符 2"/>
          <p:cNvSpPr txBox="1"/>
          <p:nvPr/>
        </p:nvSpPr>
        <p:spPr>
          <a:xfrm>
            <a:off x="4822261" y="1573433"/>
            <a:ext cx="3186194" cy="1855567"/>
          </a:xfrm>
          <a:prstGeom prst="rect">
            <a:avLst/>
          </a:prstGeom>
        </p:spPr>
        <p:txBody>
          <a:bodyPr vert="horz" lIns="91440" tIns="45720" rIns="91440" bIns="45720" rtlCol="0">
            <a:normAutofit fontScale="2292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8600"/>
              <a:t>Model LOD preprocessing</a:t>
            </a:r>
          </a:p>
          <a:p>
            <a:r>
              <a:rPr lang="en-US" sz="5400"/>
              <a:t>LOD-1- original</a:t>
            </a:r>
            <a:endParaRPr lang="en-US" sz="12200"/>
          </a:p>
          <a:p>
            <a:r>
              <a:rPr lang="en-US" sz="5400"/>
              <a:t>LOD0 -Material consolidation</a:t>
            </a:r>
            <a:endParaRPr lang="en-US" sz="12200"/>
          </a:p>
          <a:p>
            <a:r>
              <a:rPr lang="en-US" sz="5400"/>
              <a:t>LOD1 - trunk decimate modifier+ Leaf card reduction + Scale for silhouette compensation</a:t>
            </a:r>
            <a:endParaRPr lang="en-US" sz="12200"/>
          </a:p>
          <a:p>
            <a:r>
              <a:rPr lang="en-US" sz="5400"/>
              <a:t>LOD2 -LOD1 with higher intensity</a:t>
            </a:r>
            <a:endParaRPr lang="en-US" sz="12200"/>
          </a:p>
          <a:p>
            <a:r>
              <a:rPr lang="en-US" sz="5400"/>
              <a:t>LOD3 –Crossing billboard imposter</a:t>
            </a:r>
            <a:endParaRPr lang="en-US" sz="122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标题 1"/>
          <p:cNvSpPr>
            <a:spLocks noGrp="1"/>
          </p:cNvSpPr>
          <p:nvPr>
            <p:ph type="title"/>
          </p:nvPr>
        </p:nvSpPr>
        <p:spPr>
          <a:xfrm>
            <a:off x="685800" y="221766"/>
            <a:ext cx="10515600" cy="1325563"/>
          </a:xfrm>
          <a:prstGeom prst="rect">
            <a:avLst/>
          </a:prstGeom>
        </p:spPr>
        <p:txBody>
          <a:bodyPr/>
          <a:lstStyle/>
          <a:p>
            <a:pPr marL="0" indent="0">
              <a:buFont typeface="Arial"/>
              <a:buNone/>
            </a:pPr>
            <a:r>
              <a:rPr lang="en-US"/>
              <a:t>Performance analysis - Screen-Size-Based</a:t>
            </a:r>
            <a:r>
              <a:rPr lang="en-US" b="1"/>
              <a:t> </a:t>
            </a:r>
            <a:r>
              <a:rPr lang="en-US"/>
              <a:t>LOD selection</a:t>
            </a:r>
          </a:p>
        </p:txBody>
      </p:sp>
      <p:sp>
        <p:nvSpPr>
          <p:cNvPr id="100" name="内容占位符 2"/>
          <p:cNvSpPr txBox="1"/>
          <p:nvPr/>
        </p:nvSpPr>
        <p:spPr>
          <a:xfrm>
            <a:off x="8680916" y="1533456"/>
            <a:ext cx="3183834" cy="460375"/>
          </a:xfrm>
          <a:prstGeom prst="rect">
            <a:avLst/>
          </a:prstGeom>
        </p:spPr>
        <p:txBody>
          <a:bodyPr vert="horz" lIns="91440" tIns="45720" rIns="91440" bIns="45720" rtlCol="0">
            <a:normAutofit fontScale="98770" lnSpcReduction="984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endParaRPr lang="en-US"/>
          </a:p>
        </p:txBody>
      </p:sp>
      <p:pic>
        <p:nvPicPr>
          <p:cNvPr id="101" name="Picture 1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90600" y="1763643"/>
            <a:ext cx="5180474" cy="2812620"/>
          </a:xfrm>
          <a:prstGeom prst="rect">
            <a:avLst/>
          </a:prstGeom>
        </p:spPr>
      </p:pic>
      <p:sp>
        <p:nvSpPr>
          <p:cNvPr id="102" name="标题 1"/>
          <p:cNvSpPr/>
          <p:nvPr/>
        </p:nvSpPr>
        <p:spPr>
          <a:xfrm>
            <a:off x="913274" y="4648200"/>
            <a:ext cx="10515600" cy="1325563"/>
          </a:xfrm>
          <a:prstGeom prst="rect">
            <a:avLst/>
          </a:prstGeom>
        </p:spPr>
        <p:txBody>
          <a:bodyPr anchor="ctr"/>
          <a:lstStyle/>
          <a:p>
            <a:pPr marL="0" indent="0">
              <a:buFont typeface="Arial"/>
              <a:buNone/>
            </a:pPr>
            <a:r>
              <a:rPr lang="en-US"/>
              <a:t>Traditional distance based LOD selection will cause objects of different sizes to show the same LOD level at the same distance, although they are occupying different percentage of the screen.</a:t>
            </a:r>
          </a:p>
          <a:p>
            <a:pPr marL="0" indent="0">
              <a:buFont typeface="Arial"/>
              <a:buNone/>
            </a:pPr>
            <a:r>
              <a:rPr lang="en-US"/>
              <a:t>For example, a mountain and a tree at the same distance with the camera should not use the same LOD level because they take a completely different percentage of the total screen.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标题 1"/>
          <p:cNvSpPr>
            <a:spLocks noGrp="1"/>
          </p:cNvSpPr>
          <p:nvPr>
            <p:ph type="title"/>
          </p:nvPr>
        </p:nvSpPr>
        <p:spPr>
          <a:xfrm>
            <a:off x="457200" y="207893"/>
            <a:ext cx="10515600" cy="1325563"/>
          </a:xfrm>
          <a:prstGeom prst="rect">
            <a:avLst/>
          </a:prstGeom>
        </p:spPr>
        <p:txBody>
          <a:bodyPr/>
          <a:lstStyle/>
          <a:p>
            <a:pPr marL="0" indent="0">
              <a:buFont typeface="Arial"/>
              <a:buNone/>
            </a:pPr>
            <a:r>
              <a:rPr lang="en-US" dirty="0"/>
              <a:t>Performance analysis -  Instancing</a:t>
            </a:r>
          </a:p>
          <a:p>
            <a:pPr marL="0" indent="0">
              <a:buFont typeface="Arial"/>
              <a:buNone/>
            </a:pPr>
            <a:r>
              <a:rPr lang="en-US" dirty="0"/>
              <a:t>To remove VRAM overhead and enable parallelism</a:t>
            </a:r>
          </a:p>
        </p:txBody>
      </p:sp>
      <p:pic>
        <p:nvPicPr>
          <p:cNvPr id="104" name="Picture 3" descr="20261019-233832.jpg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57200" y="1959880"/>
            <a:ext cx="5638800" cy="935720"/>
          </a:xfrm>
          <a:prstGeom prst="rect">
            <a:avLst/>
          </a:prstGeom>
        </p:spPr>
      </p:pic>
      <p:pic>
        <p:nvPicPr>
          <p:cNvPr id="106" name="Picture 4" descr="20261019-233935.jpg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762000" y="2971800"/>
            <a:ext cx="4587574" cy="2346960"/>
          </a:xfrm>
          <a:prstGeom prst="rect">
            <a:avLst/>
          </a:prstGeom>
        </p:spPr>
      </p:pic>
      <p:sp>
        <p:nvSpPr>
          <p:cNvPr id="107" name="Arrow 5"/>
          <p:cNvSpPr/>
          <p:nvPr/>
        </p:nvSpPr>
        <p:spPr>
          <a:xfrm>
            <a:off x="5715000" y="3276600"/>
            <a:ext cx="1073475" cy="745314"/>
          </a:xfrm>
          <a:prstGeom prst="rightArrow">
            <a:avLst>
              <a:gd name="adj1" fmla="val 38358"/>
              <a:gd name="adj2" fmla="val 4141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endParaRPr/>
          </a:p>
        </p:txBody>
      </p:sp>
      <p:pic>
        <p:nvPicPr>
          <p:cNvPr id="109" name="Picture 6" descr="20261019-234045.jpg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7086600" y="2232660"/>
            <a:ext cx="3368665" cy="30861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Technologies</a:t>
            </a:r>
            <a:endParaRPr 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396041"/>
            <a:ext cx="10448855" cy="5113202"/>
          </a:xfrm>
          <a:prstGeom prst="rect">
            <a:avLst/>
          </a:prstGeom>
        </p:spPr>
        <p:txBody>
          <a:bodyPr>
            <a:normAutofit fontScale="68953" lnSpcReduction="20000"/>
          </a:bodyPr>
          <a:lstStyle/>
          <a:p>
            <a:r>
              <a:rPr lang="en-US" sz="4800"/>
              <a:t>Renderer architecture</a:t>
            </a:r>
            <a:endParaRPr sz="4800"/>
          </a:p>
          <a:p>
            <a:r>
              <a:rPr lang="en-US" sz="4800"/>
              <a:t>Render Graph deepdive</a:t>
            </a:r>
          </a:p>
          <a:p>
            <a:r>
              <a:rPr lang="en-US" sz="4800"/>
              <a:t>MCP for blender</a:t>
            </a:r>
          </a:p>
          <a:p>
            <a:r>
              <a:rPr lang="en-US" sz="4800"/>
              <a:t>GLTF/GLB file extension</a:t>
            </a:r>
            <a:endParaRPr sz="4800"/>
          </a:p>
          <a:p>
            <a:r>
              <a:rPr lang="en-US" sz="4800"/>
              <a:t>Android OS/ ADB debugging/ APK file extension/ Cross compiling</a:t>
            </a:r>
            <a:endParaRPr sz="4800"/>
          </a:p>
          <a:p>
            <a:r>
              <a:rPr lang="en-US" sz="4800"/>
              <a:t>Rust</a:t>
            </a:r>
            <a:endParaRPr sz="4800"/>
          </a:p>
          <a:p>
            <a:r>
              <a:rPr lang="en-US" sz="4800"/>
              <a:t>LLVM cross compilation</a:t>
            </a:r>
            <a:endParaRPr sz="4800"/>
          </a:p>
          <a:p>
            <a:r>
              <a:rPr lang="en-US" sz="4800"/>
              <a:t>Lua</a:t>
            </a:r>
            <a:endParaRPr sz="4800"/>
          </a:p>
          <a:p>
            <a:r>
              <a:rPr lang="en-US" sz="4800"/>
              <a:t>WSGL</a:t>
            </a:r>
          </a:p>
          <a:p>
            <a:r>
              <a:rPr lang="en-US" sz="4800"/>
              <a:t>Botaniq blender plugin for plant resources</a:t>
            </a:r>
            <a:endParaRPr sz="4800"/>
          </a:p>
        </p:txBody>
      </p:sp>
      <p:sp>
        <p:nvSpPr>
          <p:cNvPr id="4" name="内容占位符 2"/>
          <p:cNvSpPr txBox="1"/>
          <p:nvPr/>
        </p:nvSpPr>
        <p:spPr>
          <a:xfrm>
            <a:off x="1126435" y="4146412"/>
            <a:ext cx="4842013" cy="279607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/>
              <a:buNone/>
            </a:pPr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Renderer architecture</a:t>
            </a:r>
            <a:endParaRPr lang="zh-CN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90600" y="1371600"/>
            <a:ext cx="5821874" cy="4678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3900" y="66951"/>
            <a:ext cx="7872795" cy="1062272"/>
          </a:xfrm>
          <a:prstGeom prst="rect">
            <a:avLst/>
          </a:prstGeom>
        </p:spPr>
        <p:txBody>
          <a:bodyPr/>
          <a:lstStyle/>
          <a:p>
            <a:r>
              <a:rPr lang="en-US" sz="5400"/>
              <a:t>Render graph deep dive</a:t>
            </a:r>
            <a:endParaRPr sz="540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77957" y="1824867"/>
            <a:ext cx="4237360" cy="4416908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5257800" y="1734793"/>
            <a:ext cx="3551683" cy="5033133"/>
          </a:xfrm>
          <a:prstGeom prst="rect">
            <a:avLst/>
          </a:prstGeom>
        </p:spPr>
      </p:pic>
      <p:sp>
        <p:nvSpPr>
          <p:cNvPr id="12" name="标题 1"/>
          <p:cNvSpPr txBox="1"/>
          <p:nvPr/>
        </p:nvSpPr>
        <p:spPr>
          <a:xfrm>
            <a:off x="5295874" y="1392514"/>
            <a:ext cx="2469875" cy="3422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33445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Per mesh Cook-Torrance BRDF</a:t>
            </a:r>
          </a:p>
        </p:txBody>
      </p:sp>
      <p:sp>
        <p:nvSpPr>
          <p:cNvPr id="14" name="标题 1"/>
          <p:cNvSpPr txBox="1"/>
          <p:nvPr/>
        </p:nvSpPr>
        <p:spPr>
          <a:xfrm>
            <a:off x="798444" y="1392514"/>
            <a:ext cx="2469875" cy="3422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4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/>
              <a:t>Whole render graph</a:t>
            </a:r>
          </a:p>
        </p:txBody>
      </p:sp>
      <p:sp>
        <p:nvSpPr>
          <p:cNvPr id="15" name="Rectangle 14"/>
          <p:cNvSpPr/>
          <p:nvPr/>
        </p:nvSpPr>
        <p:spPr>
          <a:xfrm flipV="1">
            <a:off x="1247362" y="3429000"/>
            <a:ext cx="1823830" cy="24350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Arrow: Right 16"/>
          <p:cNvSpPr/>
          <p:nvPr/>
        </p:nvSpPr>
        <p:spPr>
          <a:xfrm>
            <a:off x="3170565" y="3473727"/>
            <a:ext cx="2365531" cy="243509"/>
          </a:xfrm>
          <a:prstGeom prst="rightArrow">
            <a:avLst>
              <a:gd name="adj1" fmla="val 47260"/>
              <a:gd name="adj2" fmla="val 787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MCP for Blender</a:t>
            </a:r>
            <a:endParaRPr lang="zh-CN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24320" y="1201324"/>
            <a:ext cx="5633580" cy="5037940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216694" y="1201324"/>
            <a:ext cx="3867648" cy="2814085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6216694" y="4015409"/>
            <a:ext cx="5813342" cy="195800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GLTF/GLB extension</a:t>
            </a:r>
            <a:endParaRPr lang="zh-CN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081652" y="1496341"/>
            <a:ext cx="4495833" cy="425294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Android OS</a:t>
            </a:r>
            <a:endParaRPr lang="zh-CN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504519" y="1322940"/>
            <a:ext cx="5182962" cy="5310778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Rust</a:t>
            </a:r>
            <a:endParaRPr lang="zh-CN"/>
          </a:p>
        </p:txBody>
      </p:sp>
      <p:sp>
        <p:nvSpPr>
          <p:cNvPr id="3" name="标题 1"/>
          <p:cNvSpPr txBox="1"/>
          <p:nvPr/>
        </p:nvSpPr>
        <p:spPr>
          <a:xfrm>
            <a:off x="838200" y="1441863"/>
            <a:ext cx="992587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/>
              <a:t>Rust is a “evolved” version of cpp which enables memory efficiency by avoiding GC and safety through compilation safety rules.</a:t>
            </a:r>
          </a:p>
          <a:p>
            <a:endParaRPr lang="en-US" sz="2000"/>
          </a:p>
          <a:p>
            <a:r>
              <a:rPr lang="en-US" sz="2000"/>
              <a:t>The language is harder to write and compile compared to CPP due to the additional syntax rules but much easier to maintain later than cpp. 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WGSL</a:t>
            </a:r>
            <a:endParaRPr lang="zh-CN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2688503" y="1595230"/>
            <a:ext cx="6036099" cy="455709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LLVM cross compilation</a:t>
            </a:r>
            <a:endParaRPr lang="zh-C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标题 1"/>
              <p:cNvSpPr txBox="1"/>
              <p:nvPr/>
            </p:nvSpPr>
            <p:spPr>
              <a:xfrm>
                <a:off x="897835" y="1302716"/>
                <a:ext cx="10515600" cy="1325563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sz="1700"/>
                  <a:t>LLVM works on a lot of different languages by using the LLVM IR as the bridge between the target platform code and the source code.</a:t>
                </a:r>
              </a:p>
              <a:p>
                <a:r>
                  <a:rPr lang="en-US" sz="1700"/>
                  <a:t>Decoupled Architecture: This reduces the implementation complexity from an </a:t>
                </a:r>
                <a14:m>
                  <m:oMath xmlns:m="http://schemas.openxmlformats.org/officeDocument/2006/math">
                    <m:r>
                      <a:rPr lang="en-US" sz="170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70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sz="170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1700"/>
                  <a:t> (for </a:t>
                </a:r>
                <a14:m>
                  <m:oMath xmlns:m="http://schemas.openxmlformats.org/officeDocument/2006/math">
                    <m:r>
                      <a:rPr lang="en-US" sz="170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sz="1700"/>
                  <a:t> languages and </a:t>
                </a:r>
                <a14:m>
                  <m:oMath xmlns:m="http://schemas.openxmlformats.org/officeDocument/2006/math">
                    <m:r>
                      <a:rPr lang="en-US" sz="170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1700"/>
                  <a:t> hardware architectures) down to </a:t>
                </a:r>
                <a14:m>
                  <m:oMath xmlns:m="http://schemas.openxmlformats.org/officeDocument/2006/math">
                    <m:r>
                      <a:rPr lang="en-US" sz="170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17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170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US" sz="1700"/>
                  <a:t>.</a:t>
                </a:r>
                <a:endParaRPr lang="zh-CN" sz="1700"/>
              </a:p>
            </p:txBody>
          </p:sp>
        </mc:Choice>
        <mc:Fallback xmlns="">
          <p:sp>
            <p:nvSpPr>
              <p:cNvPr id="3" name="标题 1"/>
              <p:cNvSpPr txBox="1"/>
              <p:nvPr/>
            </p:nvSpPr>
            <p:spPr>
              <a:xfrm>
                <a:off x="897835" y="1302716"/>
                <a:ext cx="10515600" cy="1325563"/>
              </a:xfrm>
              <a:prstGeom prst="rect">
                <a:avLst/>
              </a:prstGeom>
            </p:spPr>
            <p:txBody>
              <a:bodyPr vert="horz" lIns="91440" tIns="45720" rIns="91440" bIns="45720" rtlCol="0" anchor="ctr">
                <a:normAutofit/>
              </a:bodyPr>
              <a:lstStyle>
                <a:lvl1pPr algn="l" defTabSz="914400" rtl="0" eaLnBrk="1" latinLnBrk="0" hangingPunct="1">
                  <a:lnSpc>
                    <a:spcPct val="90000"/>
                  </a:lnSpc>
                  <a:spcBef>
                    <a:spcPct val="0"/>
                  </a:spcBef>
                  <a:buNone/>
                  <a:defRPr sz="4400" kern="1200">
                    <a:solidFill>
                      <a:schemeClr val="tx1"/>
                    </a:solidFill>
                    <a:latin typeface="+mj-lt"/>
                    <a:ea typeface="+mj-ea"/>
                    <a:cs typeface="+mj-cs"/>
                  </a:defRPr>
                </a:lvl1pPr>
              </a:lstStyle>
              <a:p>
                <a:r>
                  <a:rPr lang="en-US" sz="1700"/>
                  <a:t>LLVM works on a lot of different languages by using the LLVM IR as the bridge between the target platform code and the source code.</a:t>
                </a:r>
              </a:p>
              <a:p>
                <a:r>
                  <a:rPr lang="en-US" sz="1700"/>
                  <a:t>Decoupled Architecture: This reduces the implementation complexity from an </a:t>
                </a:r>
                <a:r>
                  <a:rPr/>
                  <a:t>𝑛×𝑚</a:t>
                </a:r>
                <a:r>
                  <a:rPr lang="en-US" sz="1700"/>
                  <a:t> (for </a:t>
                </a:r>
                <a:r>
                  <a:rPr/>
                  <a:t>𝑛</a:t>
                </a:r>
                <a:r>
                  <a:rPr lang="en-US" sz="1700"/>
                  <a:t> languages and </a:t>
                </a:r>
                <a:r>
                  <a:rPr/>
                  <a:t>𝑚</a:t>
                </a:r>
                <a:r>
                  <a:rPr lang="en-US" sz="1700"/>
                  <a:t> hardware architectures) down to </a:t>
                </a:r>
                <a:r>
                  <a:rPr/>
                  <a:t>𝑛+𝑚</a:t>
                </a:r>
                <a:r>
                  <a:rPr lang="en-US" sz="1700"/>
                  <a:t>.</a:t>
                </a:r>
                <a:endParaRPr lang="zh-CN" sz="1700"/>
              </a:p>
            </p:txBody>
          </p:sp>
        </mc:Fallback>
      </mc:AlternateContent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897835" y="2628279"/>
            <a:ext cx="5642113" cy="299239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Lua</a:t>
            </a:r>
            <a:endParaRPr lang="zh-CN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670892" y="2077357"/>
            <a:ext cx="1782332" cy="1351643"/>
          </a:xfrm>
          <a:prstGeom prst="rect">
            <a:avLst/>
          </a:prstGeom>
        </p:spPr>
      </p:pic>
      <p:sp>
        <p:nvSpPr>
          <p:cNvPr id="6" name="标题 1"/>
          <p:cNvSpPr txBox="1"/>
          <p:nvPr/>
        </p:nvSpPr>
        <p:spPr>
          <a:xfrm>
            <a:off x="617883" y="1571248"/>
            <a:ext cx="10903225" cy="6153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/>
              <a:t>Superficially, it’s very similar to python—both are dynamic, garbage-collected, interpreted-bytecode scripting languages written in C with first-class functions.</a:t>
            </a:r>
          </a:p>
          <a:p>
            <a:endParaRPr lang="zh-CN" sz="1600"/>
          </a:p>
        </p:txBody>
      </p:sp>
      <p:sp>
        <p:nvSpPr>
          <p:cNvPr id="8" name="标题 1"/>
          <p:cNvSpPr txBox="1"/>
          <p:nvPr/>
        </p:nvSpPr>
        <p:spPr>
          <a:xfrm>
            <a:off x="617883" y="3518452"/>
            <a:ext cx="10515600" cy="9322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/>
              <a:t>Architecturally and philosophically, they are near-opposites: Python is a standalone, "batteries-included" monolith built around rich object-oriented abstractions and an enormous standard library,</a:t>
            </a:r>
          </a:p>
          <a:p>
            <a:r>
              <a:rPr lang="en-US" sz="1600"/>
              <a:t>while Lua is an ultra-minimal, embeddable configuration-and-scripting library with only one data structure and no native class mechanism.</a:t>
            </a:r>
            <a:endParaRPr lang="zh-CN" sz="1600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70892" y="4450689"/>
            <a:ext cx="2339757" cy="1896217"/>
          </a:xfrm>
          <a:prstGeom prst="rect">
            <a:avLst/>
          </a:prstGeom>
        </p:spPr>
      </p:pic>
      <p:sp>
        <p:nvSpPr>
          <p:cNvPr id="12" name="标题 1"/>
          <p:cNvSpPr txBox="1"/>
          <p:nvPr/>
        </p:nvSpPr>
        <p:spPr>
          <a:xfrm>
            <a:off x="3063658" y="4282108"/>
            <a:ext cx="6660984" cy="9322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1600"/>
              <a:t>The only data structure in Lua is table which combines array and hash table</a:t>
            </a:r>
            <a:endParaRPr lang="zh-CN" sz="1600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3152363" y="4916996"/>
            <a:ext cx="1570820" cy="139015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Botaniq</a:t>
            </a:r>
            <a:endParaRPr lang="zh-CN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544173" y="1406387"/>
            <a:ext cx="9176836" cy="5018138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 the end</a:t>
            </a:r>
            <a:endParaRPr lang="zh-CN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457877"/>
            <a:ext cx="10515600" cy="4351338"/>
          </a:xfrm>
          <a:prstGeom prst="rect">
            <a:avLst/>
          </a:prstGeom>
        </p:spPr>
        <p:txBody>
          <a:bodyPr/>
          <a:lstStyle/>
          <a:p>
            <a:r>
              <a:rPr lang="en-US"/>
              <a:t>About my career plan</a:t>
            </a:r>
          </a:p>
          <a:p>
            <a:r>
              <a:rPr lang="en-US"/>
              <a:t>About understanding the fundamental ( like the BSDF and PBR from a deeper level)</a:t>
            </a:r>
          </a:p>
          <a:p>
            <a:r>
              <a:rPr lang="en-US"/>
              <a:t>About AI usage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343400" y="1295400"/>
            <a:ext cx="1088647" cy="683497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3581400" y="2667000"/>
            <a:ext cx="929105" cy="62451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Thanks</a:t>
            </a:r>
            <a:endParaRPr lang="zh-CN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>
          <a:solidFill>
            <a:schemeClr val="phClr"/>
          </a:solidFill>
          <a:prstDash val="solid"/>
          <a:miter/>
        </a:ln>
        <a:ln w="12700" cap="flat" cmpd="sng">
          <a:solidFill>
            <a:schemeClr val="phClr"/>
          </a:solidFill>
          <a:prstDash val="solid"/>
          <a:miter/>
        </a:ln>
        <a:ln w="19050" cap="flat" cmpd="sng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456</Words>
  <Application>Microsoft Office PowerPoint</Application>
  <PresentationFormat>Widescreen</PresentationFormat>
  <Paragraphs>58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等线</vt:lpstr>
      <vt:lpstr>等线 Light</vt:lpstr>
      <vt:lpstr>Arial</vt:lpstr>
      <vt:lpstr>Calibri</vt:lpstr>
      <vt:lpstr>Cambria Math</vt:lpstr>
      <vt:lpstr>Office 主题​​</vt:lpstr>
      <vt:lpstr>WebGPU-Renderer A Data-driven gltf renderer with enhanced ability Car rendering case study</vt:lpstr>
      <vt:lpstr>Showcase</vt:lpstr>
      <vt:lpstr>Visual analysis – plant animation</vt:lpstr>
      <vt:lpstr>Visual analysis – plant scatter Ecotone Gradient Scatterer with Variable-Radius Poisson Disk Sampling and Noise-Modulated Density</vt:lpstr>
      <vt:lpstr>Performance analysis - Plant Asset preprocessing</vt:lpstr>
      <vt:lpstr>Performance analysis - Screen-Size-Based LOD selection</vt:lpstr>
      <vt:lpstr>Performance analysis -  Instancing To remove VRAM overhead and enable parallelism</vt:lpstr>
      <vt:lpstr>Technologies</vt:lpstr>
      <vt:lpstr>Renderer architecture</vt:lpstr>
      <vt:lpstr>Render graph deep dive</vt:lpstr>
      <vt:lpstr>MCP for Blender</vt:lpstr>
      <vt:lpstr>GLTF/GLB extension</vt:lpstr>
      <vt:lpstr>Android OS</vt:lpstr>
      <vt:lpstr>Rust</vt:lpstr>
      <vt:lpstr>WGSL</vt:lpstr>
      <vt:lpstr>LLVM cross compilation</vt:lpstr>
      <vt:lpstr>Lua</vt:lpstr>
      <vt:lpstr>Botaniq</vt:lpstr>
      <vt:lpstr>In the end</vt:lpstr>
      <vt:lpstr>Thanks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Tyrion Bao</dc:creator>
  <cp:lastModifiedBy>Tyrion Bao</cp:lastModifiedBy>
  <cp:revision>2</cp:revision>
  <dcterms:created xsi:type="dcterms:W3CDTF">2026-10-02T07:39:55Z</dcterms:created>
  <dcterms:modified xsi:type="dcterms:W3CDTF">2026-10-19T14:56:11Z</dcterms:modified>
</cp:coreProperties>
</file>