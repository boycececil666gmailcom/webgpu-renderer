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theme" Target="theme/theme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en-US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zh-CN"/>
              <a:t>2026/10/17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zh-CN"/>
              <a:t>2026/10/17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zh-CN"/>
              <a:t>2026/10/17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zh-CN"/>
              <a:t>2026/10/17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zh-CN"/>
              <a:t>2026/10/17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zh-CN"/>
              <a:t>2026/10/17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zh-CN"/>
              <a:t>2026/10/17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WebGPU</a:t>
            </a:r>
            <a:r>
              <a:rPr lang="en-US"/>
              <a:t>-Renderer</a:t>
            </a:r>
            <a:br>
              <a:rPr lang="en-US"/>
            </a:br>
            <a:r>
              <a:rPr lang="en-US" sz="3600"/>
              <a:t>A</a:t>
            </a:r>
            <a:r>
              <a:rPr lang="en-US"/>
              <a:t> </a:t>
            </a:r>
            <a:r>
              <a:rPr lang="en-US" sz="3600"/>
              <a:t>Data-driven </a:t>
            </a:r>
            <a:r>
              <a:rPr lang="en-US" sz="3600"/>
              <a:t>gltf</a:t>
            </a:r>
            <a:r>
              <a:rPr lang="en-US" sz="3600"/>
              <a:t> renderer with enhanced ability</a:t>
            </a:r>
            <a:br>
              <a:rPr lang="en-US"/>
            </a:br>
            <a:r>
              <a:rPr lang="en-US"/>
              <a:t>Car rendering case study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Tyrion Bao</a:t>
            </a:r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Showcase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Visual analysis – plant animation</a:t>
            </a:r>
          </a:p>
        </p:txBody>
      </p:sp>
      <p:pic>
        <p:nvPicPr>
          <p:cNvPr id="9" name="Content Placeholder 8"/>
          <p:cNvPicPr>
            <a:picLocks noChangeAspect="1" noGrp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/>
          <p:cNvSpPr txBox="1"/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Hierarchical GPU Vertex Shader Wind</a:t>
            </a:r>
            <a:r>
              <a:rPr lang="en-US"/>
              <a:t> </a:t>
            </a:r>
          </a:p>
          <a:p>
            <a:r>
              <a:rPr lang="en-US" sz="3200"/>
              <a:t>using encoded vertex attributes</a:t>
            </a:r>
            <a:endParaRPr lang="en-US" sz="3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Visual analysis – plant scatter</a:t>
            </a:r>
            <a:br>
              <a:rPr lang="en-US"/>
            </a:br>
            <a:r>
              <a:rPr lang="en-US" b="0"/>
              <a:t>Ecotone Gradient Scatterer with Variable-Radius Poisson Disk Sampling and Noise-Modulated Density</a:t>
            </a:r>
            <a:endParaRPr lang="en-US" b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31996" y="3127721"/>
            <a:ext cx="5272317" cy="28885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4313" y="4572000"/>
            <a:ext cx="4631549" cy="16850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04313" y="2531022"/>
            <a:ext cx="3571775" cy="20409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85800" y="221766"/>
            <a:ext cx="10515600" cy="1325563"/>
          </a:xfrm>
          <a:prstGeom prst="rect">
            <a:avLst/>
          </a:prstGeom>
        </p:spPr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/>
              <a:t>Performance analysis - Plant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Foliage Card optimization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6335" y="1993831"/>
            <a:ext cx="4153374" cy="1698203"/>
          </a:xfrm>
          <a:prstGeom prst="rect">
            <a:avLst/>
          </a:prstGeom>
        </p:spPr>
      </p:pic>
      <p:sp>
        <p:nvSpPr>
          <p:cNvPr id="10" name="内容占位符 2"/>
          <p:cNvSpPr txBox="1"/>
          <p:nvPr/>
        </p:nvSpPr>
        <p:spPr>
          <a:xfrm>
            <a:off x="8680916" y="1533456"/>
            <a:ext cx="3183834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/>
              <a:t>Screen-Size-Based</a:t>
            </a:r>
            <a:r>
              <a:rPr lang="en-US" b="1"/>
              <a:t> </a:t>
            </a:r>
            <a:r>
              <a:rPr lang="en-US"/>
              <a:t>LOD selection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574898" y="2206105"/>
            <a:ext cx="3395870" cy="1843710"/>
          </a:xfrm>
          <a:prstGeom prst="rect">
            <a:avLst/>
          </a:prstGeom>
        </p:spPr>
      </p:pic>
      <p:sp>
        <p:nvSpPr>
          <p:cNvPr id="16" name="内容占位符 2"/>
          <p:cNvSpPr txBox="1"/>
          <p:nvPr/>
        </p:nvSpPr>
        <p:spPr>
          <a:xfrm>
            <a:off x="5208104" y="1547329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/>
              <a:t>Model LOD preprocessing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6335" y="3692034"/>
            <a:ext cx="4762616" cy="217926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208104" y="4435697"/>
            <a:ext cx="2859242" cy="2042457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6996" y="2937956"/>
            <a:ext cx="2214024" cy="1497741"/>
          </a:xfrm>
          <a:prstGeom prst="rect">
            <a:avLst/>
          </a:prstGeom>
        </p:spPr>
      </p:pic>
      <p:sp>
        <p:nvSpPr>
          <p:cNvPr id="18" name="内容占位符 2"/>
          <p:cNvSpPr txBox="1"/>
          <p:nvPr/>
        </p:nvSpPr>
        <p:spPr>
          <a:xfrm>
            <a:off x="5088951" y="1836467"/>
            <a:ext cx="2824661" cy="739276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LOD-1- original</a:t>
            </a:r>
            <a:endParaRPr lang="en-US" sz="8800"/>
          </a:p>
          <a:p>
            <a:r>
              <a:rPr lang="en-US"/>
              <a:t>LOD0 -Material consolidation</a:t>
            </a:r>
            <a:endParaRPr lang="en-US" sz="8800"/>
          </a:p>
          <a:p>
            <a:r>
              <a:rPr lang="en-US"/>
              <a:t>LOD1 - trunk decimate modifier+ Leaf card reduction + Scale for silhouette compensation</a:t>
            </a:r>
            <a:endParaRPr lang="en-US" sz="8800"/>
          </a:p>
          <a:p>
            <a:r>
              <a:rPr lang="en-US"/>
              <a:t>LOD2 -LOD1 with higher intensity</a:t>
            </a:r>
            <a:endParaRPr lang="en-US" sz="8800"/>
          </a:p>
          <a:p>
            <a:r>
              <a:rPr lang="en-US"/>
              <a:t>LOD3 –Crossing billboard imposter</a:t>
            </a:r>
            <a:endParaRPr lang="en-US" sz="8800"/>
          </a:p>
          <a:p>
            <a:pPr marL="0" indent="0">
              <a:buNone/>
            </a:pPr>
            <a:endParaRPr lang="en-US" sz="8600"/>
          </a:p>
          <a:p>
            <a:pPr marL="0" indent="0">
              <a:buNone/>
            </a:pP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6041"/>
            <a:ext cx="10448855" cy="5113202"/>
          </a:xfrm>
          <a:prstGeom prst="rect">
            <a:avLst/>
          </a:prstGeom>
        </p:spPr>
        <p:txBody>
          <a:bodyPr>
            <a:normAutofit fontScale="68953" lnSpcReduction="20000"/>
          </a:bodyPr>
          <a:lstStyle/>
          <a:p>
            <a:r>
              <a:rPr lang="en-US" sz="4800"/>
              <a:t>Renderer architecture</a:t>
            </a:r>
            <a:endParaRPr sz="4800"/>
          </a:p>
          <a:p>
            <a:r>
              <a:rPr lang="en-US" sz="4800"/>
              <a:t>Render Graph deepdive</a:t>
            </a:r>
            <a:endParaRPr lang="en-US" sz="4800"/>
          </a:p>
          <a:p>
            <a:r>
              <a:rPr lang="en-US" sz="4800"/>
              <a:t>MCP for blender</a:t>
            </a:r>
            <a:endParaRPr lang="en-US" sz="4800"/>
          </a:p>
          <a:p>
            <a:r>
              <a:rPr lang="en-US" sz="4800"/>
              <a:t>GLTF/GLB file extension</a:t>
            </a:r>
            <a:endParaRPr sz="4800"/>
          </a:p>
          <a:p>
            <a:r>
              <a:rPr lang="en-US" sz="4800"/>
              <a:t>Android OS/ ADB debugging/ APK file extension/ Cross compiling</a:t>
            </a:r>
            <a:endParaRPr sz="4800"/>
          </a:p>
          <a:p>
            <a:r>
              <a:rPr lang="en-US" sz="4800"/>
              <a:t>Rust</a:t>
            </a:r>
            <a:endParaRPr sz="4800"/>
          </a:p>
          <a:p>
            <a:r>
              <a:rPr lang="en-US" sz="4800"/>
              <a:t>LLVM cross compilation</a:t>
            </a:r>
            <a:endParaRPr sz="4800"/>
          </a:p>
          <a:p>
            <a:r>
              <a:rPr lang="en-US" sz="4800"/>
              <a:t>Lua</a:t>
            </a:r>
            <a:endParaRPr sz="4800"/>
          </a:p>
          <a:p>
            <a:r>
              <a:rPr lang="en-US" sz="4800"/>
              <a:t>WSGL</a:t>
            </a:r>
            <a:endParaRPr lang="en-US" sz="4800"/>
          </a:p>
          <a:p>
            <a:r>
              <a:rPr lang="en-US" sz="4800"/>
              <a:t>Botaniq blender plugin for plant resources</a:t>
            </a:r>
            <a:endParaRPr sz="4800"/>
          </a:p>
        </p:txBody>
      </p:sp>
      <p:sp>
        <p:nvSpPr>
          <p:cNvPr id="4" name="内容占位符 2"/>
          <p:cNvSpPr txBox="1"/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Renderer architecture</a:t>
            </a:r>
            <a:endParaRPr lang="zh-CN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371600"/>
            <a:ext cx="5821874" cy="4678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3900" y="66951"/>
            <a:ext cx="7872795" cy="1062272"/>
          </a:xfrm>
          <a:prstGeom prst="rect">
            <a:avLst/>
          </a:prstGeom>
        </p:spPr>
        <p:txBody>
          <a:bodyPr/>
          <a:lstStyle/>
          <a:p>
            <a:r>
              <a:rPr lang="en-US" sz="5400"/>
              <a:t>Render graph deep dive</a:t>
            </a:r>
            <a:endParaRPr sz="54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7957" y="1824867"/>
            <a:ext cx="4237360" cy="441690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57800" y="1734793"/>
            <a:ext cx="3551683" cy="5033133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529587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3445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Per mesh Cook-Torrance BRDF</a:t>
            </a:r>
          </a:p>
        </p:txBody>
      </p:sp>
      <p:sp>
        <p:nvSpPr>
          <p:cNvPr id="14" name="标题 1"/>
          <p:cNvSpPr txBox="1"/>
          <p:nvPr/>
        </p:nvSpPr>
        <p:spPr>
          <a:xfrm>
            <a:off x="79844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Whole render graph</a:t>
            </a:r>
          </a:p>
        </p:txBody>
      </p:sp>
      <p:sp>
        <p:nvSpPr>
          <p:cNvPr id="15" name="Rectangle 14"/>
          <p:cNvSpPr/>
          <p:nvPr/>
        </p:nvSpPr>
        <p:spPr>
          <a:xfrm flipV="1">
            <a:off x="1247362" y="3429000"/>
            <a:ext cx="1823830" cy="24350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/>
          <p:cNvSpPr/>
          <p:nvPr/>
        </p:nvSpPr>
        <p:spPr>
          <a:xfrm>
            <a:off x="3170565" y="3473727"/>
            <a:ext cx="2365531" cy="243509"/>
          </a:xfrm>
          <a:prstGeom prst="rightArrow">
            <a:avLst>
              <a:gd name="adj1" fmla="val 47260"/>
              <a:gd name="adj2" fmla="val 787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MCP for Blender</a:t>
            </a:r>
            <a:endParaRPr lang="zh-C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GLTF/GLB extension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Android OS</a:t>
            </a:r>
            <a:endParaRPr lang="zh-C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Rust</a:t>
            </a:r>
            <a:endParaRPr lang="zh-CN"/>
          </a:p>
        </p:txBody>
      </p:sp>
      <p:sp>
        <p:nvSpPr>
          <p:cNvPr id="3" name="标题 1"/>
          <p:cNvSpPr txBox="1"/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/>
              <a:t>Rust is a “evolved” version of </a:t>
            </a:r>
            <a:r>
              <a:rPr lang="en-US" sz="2000"/>
              <a:t>cpp</a:t>
            </a:r>
            <a:r>
              <a:rPr lang="en-US" sz="2000"/>
              <a:t> which enables memory efficiency by avoiding GC and safety through compilation safety rules.</a:t>
            </a:r>
          </a:p>
          <a:p>
            <a:endParaRPr lang="en-US" sz="2000"/>
          </a:p>
          <a:p>
            <a:r>
              <a:rPr lang="en-US" sz="2000"/>
              <a:t>The language is harder to write and compile compared to CPP due to the additional syntax rules but much easier to maintain later than </a:t>
            </a:r>
            <a:r>
              <a:rPr lang="en-US" sz="2000"/>
              <a:t>cpp</a:t>
            </a:r>
            <a:r>
              <a:rPr lang="en-US" sz="2000"/>
              <a:t>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WGSL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88503" y="1595230"/>
            <a:ext cx="6036099" cy="4557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LLVM cross compilation</a:t>
            </a:r>
            <a:endParaRPr lang="zh-C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(for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/>
                  <a:t> languages and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hardware architectures) down to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.</a:t>
                </a:r>
                <a:endParaRPr lang="zh-CN" sz="1700"/>
              </a:p>
            </p:txBody>
          </p:sp>
        </mc:Choice>
        <mc:Fallback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:r>
                  <a:rPr/>
                  <a:t>𝑛×𝑚</a:t>
                </a:r>
                <a:r>
                  <a:rPr lang="en-US" sz="1700"/>
                  <a:t> (for </a:t>
                </a:r>
                <a:r>
                  <a:rPr/>
                  <a:t>𝑛</a:t>
                </a:r>
                <a:r>
                  <a:rPr lang="en-US" sz="1700"/>
                  <a:t> languages and </a:t>
                </a:r>
                <a:r>
                  <a:rPr/>
                  <a:t>𝑚</a:t>
                </a:r>
                <a:r>
                  <a:rPr lang="en-US" sz="1700"/>
                  <a:t> hardware architectures) down to </a:t>
                </a:r>
                <a:r>
                  <a:rPr/>
                  <a:t>𝑛+𝑚</a:t>
                </a:r>
                <a:r>
                  <a:rPr lang="en-US" sz="1700"/>
                  <a:t>.</a:t>
                </a:r>
                <a:endParaRPr lang="zh-CN" sz="1700"/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Lua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/>
          <p:cNvSpPr txBox="1"/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Superficially</a:t>
            </a:r>
            <a:r>
              <a:rPr lang="en-US" sz="1600"/>
              <a:t>, it’s very similar to python</a:t>
            </a:r>
            <a:r>
              <a:rPr lang="en-US" sz="1600"/>
              <a:t>—both are dynamic, garbage-collected, interpreted-bytecode scripting languages written in C with first-class functions.</a:t>
            </a:r>
            <a:endParaRPr lang="en-US" sz="1600"/>
          </a:p>
          <a:p>
            <a:endParaRPr lang="zh-CN" sz="1600"/>
          </a:p>
        </p:txBody>
      </p:sp>
      <p:sp>
        <p:nvSpPr>
          <p:cNvPr id="8" name="标题 1"/>
          <p:cNvSpPr txBox="1"/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/>
              <a:t>while Lua is an ultra-minimal, embeddable configuration-and-scripting library with only one data structure and no native class mechanism.</a:t>
            </a:r>
            <a:endParaRPr lang="zh-CN" sz="160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The only data structure in Lua is table which combines array and hash table</a:t>
            </a:r>
            <a:endParaRPr lang="zh-CN" sz="160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Botaniq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4173" y="1406387"/>
            <a:ext cx="9176836" cy="501813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 the end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57877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About my career plan</a:t>
            </a:r>
            <a:endParaRPr lang="en-US"/>
          </a:p>
          <a:p>
            <a:r>
              <a:rPr lang="en-US"/>
              <a:t>About understanding the fundamental ( like the BSDF and PBR from a deeper level)</a:t>
            </a:r>
            <a:endParaRPr lang="en-US"/>
          </a:p>
          <a:p>
            <a:r>
              <a:rPr lang="en-US"/>
              <a:t>About AI usage</a:t>
            </a:r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43400" y="1295400"/>
            <a:ext cx="1088647" cy="68349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81400" y="2667000"/>
            <a:ext cx="929105" cy="6245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18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Tyrion Bao</dc:creator>
  <cp:lastModifiedBy>Tyrion Bao</cp:lastModifiedBy>
  <cp:revision>1</cp:revision>
  <dcterms:created xsi:type="dcterms:W3CDTF">2026-10-02T07:39:55Z</dcterms:created>
  <dcterms:modified xsi:type="dcterms:W3CDTF">2026-10-18T17:18:10Z</dcterms:modified>
</cp:coreProperties>
</file>