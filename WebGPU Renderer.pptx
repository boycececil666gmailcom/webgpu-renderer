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xmlns:p="http://schemas.openxmlformats.org/presentationml/2006/main"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theme" Target="theme/theme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98F326-38F9-40E9-844A-EC66DA56CEC0}" type="datetimeFigureOut">
              <a:rPr lang="en-US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DB33E-DF1A-4DDD-8617-8BEBD58B3BBA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5B21-E8EE-4505-87E0-7B7F2C3DBBD0}" type="datetimeFigureOut">
              <a:rPr lang="en-US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C6D5D-A00E-4AA9-84F2-364CBECE0EEA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609E6-1126-4CCC-8F95-892B304C12E9}" type="datetimeFigureOut">
              <a:rPr lang="en-US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3082BF-5467-4883-8896-824F7369BC9A}" type="datetimeFigureOut">
              <a:rPr lang="en-US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66248-C912-41CA-84D9-08E1C7982093}" type="datetimeFigureOut">
              <a:rPr lang="en-US"/>
              <a:t>2026/10/19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FB636-F4D9-4299-85F9-44D23E27C49C}" type="datetimeFigureOut">
              <a:rPr lang="en-US"/>
              <a:t>2026/10/19</a:t>
            </a:fld>
            <a:endParaRPr 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C346-E4DF-45C0-848B-E2AC5513E0D5}" type="datetimeFigureOut">
              <a:rPr lang="en-US"/>
              <a:t>2026/10/19</a:t>
            </a:fld>
            <a:endParaRPr 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B29E-DC2A-4D67-887F-3BE2DC8489D6}" type="datetimeFigureOut">
              <a:rPr lang="en-US"/>
              <a:t>2026/10/19</a:t>
            </a:fld>
            <a:endParaRPr 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563BD-7186-488E-816C-8F41FA24179F}" type="datetimeFigureOut">
              <a:rPr lang="en-US"/>
              <a:t>2026/10/19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02C48-70E8-4C8D-81F4-17FB598144B8}" type="datetimeFigureOut">
              <a:rPr lang="en-US"/>
              <a:t>2026/10/19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02B83-4DFE-444B-8222-D5FF1EA6B44C}" type="datetimeFigureOut">
              <a:rPr lang="en-US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40F9-1701-4EB4-806D-4ED861E7A003}" type="datetimeFigureOut">
              <a:rPr lang="en-US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主题​​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ADADCF-DC63-475D-8D69-AEBF4EDF3BBC}" type="datetimeFigureOut">
              <a:rPr lang="en-US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image" Target="../media/image12.jpe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WebGPU-Renderer</a:t>
            </a:r>
            <a:br>
              <a:rPr lang="en-US"/>
            </a:br>
            <a:r>
              <a:rPr lang="en-US" sz="3600"/>
              <a:t>A</a:t>
            </a:r>
            <a:r>
              <a:rPr lang="en-US"/>
              <a:t> </a:t>
            </a:r>
            <a:r>
              <a:rPr lang="en-US" sz="3600"/>
              <a:t>Data-driven gltf renderer with enhanced ability</a:t>
            </a:r>
            <a:br>
              <a:rPr lang="en-US"/>
            </a:br>
            <a:r>
              <a:rPr lang="en-US"/>
              <a:t>Car rendering case study</a:t>
            </a:r>
            <a:endParaRPr 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20449"/>
            <a:ext cx="9144000" cy="54404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Tyrion Bao</a:t>
            </a:r>
            <a:endParaRPr 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Showcase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Visual analysis – plant animation</a:t>
            </a:r>
          </a:p>
        </p:txBody>
      </p:sp>
      <p:pic>
        <p:nvPicPr>
          <p:cNvPr id="9" name="Content Placeholder 8"/>
          <p:cNvPicPr>
            <a:picLocks noChangeAspect="1" noGrp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838200" y="2828534"/>
            <a:ext cx="6315121" cy="2943247"/>
          </a:xfrm>
          <a:prstGeom prst="rect">
            <a:avLst/>
          </a:prstGeom>
        </p:spPr>
      </p:pic>
      <p:sp>
        <p:nvSpPr>
          <p:cNvPr id="10" name="标题 1"/>
          <p:cNvSpPr txBox="1"/>
          <p:nvPr/>
        </p:nvSpPr>
        <p:spPr>
          <a:xfrm>
            <a:off x="838200" y="13722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/>
              <a:t>Hierarchical GPU Vertex Shader Wind</a:t>
            </a:r>
            <a:r>
              <a:rPr lang="en-US"/>
              <a:t> </a:t>
            </a:r>
          </a:p>
          <a:p>
            <a:r>
              <a:rPr lang="en-US" sz="3200"/>
              <a:t>using encoded vertex attributes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257685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Visual analysis – plant scatter</a:t>
            </a:r>
            <a:br>
              <a:rPr lang="en-US"/>
            </a:br>
            <a:r>
              <a:rPr lang="en-US" b="0"/>
              <a:t>Ecotone Gradient Scatterer with Variable-Radius Poisson Disk Sampling and Noise-Modulated Density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2922104"/>
            <a:ext cx="5272317" cy="28885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04313" y="4648200"/>
            <a:ext cx="4631549" cy="168509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04313" y="2607222"/>
            <a:ext cx="3571775" cy="20409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09770" y="207893"/>
            <a:ext cx="10515600" cy="1325563"/>
          </a:xfrm>
          <a:prstGeom prst="rect">
            <a:avLst/>
          </a:prstGeom>
        </p:spPr>
        <p:txBody>
          <a:bodyPr/>
          <a:lstStyle/>
          <a:p>
            <a:pPr marL="0" indent="0">
              <a:buFont typeface="Arial"/>
              <a:buNone/>
            </a:pPr>
            <a:r>
              <a:rPr lang="en-US"/>
              <a:t>Performance analysis - Plant Asset preprocessing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6335" y="1547329"/>
            <a:ext cx="4881769" cy="46037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/>
              <a:t>Foliage Card optimization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26335" y="1993831"/>
            <a:ext cx="4030944" cy="1648144"/>
          </a:xfrm>
          <a:prstGeom prst="rect">
            <a:avLst/>
          </a:prstGeom>
        </p:spPr>
      </p:pic>
      <p:sp>
        <p:nvSpPr>
          <p:cNvPr id="11" name="内容占位符 2"/>
          <p:cNvSpPr txBox="1"/>
          <p:nvPr/>
        </p:nvSpPr>
        <p:spPr>
          <a:xfrm>
            <a:off x="5567570" y="1533456"/>
            <a:ext cx="4881769" cy="460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/>
          </a:p>
          <a:p>
            <a:pPr marL="0" indent="0">
              <a:buFont typeface="Arial"/>
              <a:buNone/>
            </a:pPr>
            <a:endParaRPr lang="en-US"/>
          </a:p>
          <a:p>
            <a:pPr marL="0" indent="0">
              <a:buFont typeface="Arial"/>
              <a:buNone/>
            </a:pPr>
            <a:endParaRPr lang="en-US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26335" y="3641975"/>
            <a:ext cx="4039551" cy="1848406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203012" y="3589786"/>
            <a:ext cx="2103969" cy="1502938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988988" y="3589786"/>
            <a:ext cx="2214024" cy="1497741"/>
          </a:xfrm>
          <a:prstGeom prst="rect">
            <a:avLst/>
          </a:prstGeom>
        </p:spPr>
      </p:pic>
      <p:sp>
        <p:nvSpPr>
          <p:cNvPr id="18" name="内容占位符 2"/>
          <p:cNvSpPr txBox="1"/>
          <p:nvPr/>
        </p:nvSpPr>
        <p:spPr>
          <a:xfrm>
            <a:off x="4822261" y="1573433"/>
            <a:ext cx="3186194" cy="1855567"/>
          </a:xfrm>
          <a:prstGeom prst="rect">
            <a:avLst/>
          </a:prstGeom>
        </p:spPr>
        <p:txBody>
          <a:bodyPr vert="horz" lIns="91440" tIns="45720" rIns="91440" bIns="45720" rtlCol="0">
            <a:normAutofit fontScale="2292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600"/>
              <a:t>Model LOD preprocessing</a:t>
            </a:r>
          </a:p>
          <a:p>
            <a:r>
              <a:rPr lang="en-US" sz="5400"/>
              <a:t>LOD-1- original</a:t>
            </a:r>
            <a:endParaRPr lang="en-US" sz="12200"/>
          </a:p>
          <a:p>
            <a:r>
              <a:rPr lang="en-US" sz="5400"/>
              <a:t>LOD0 -Material consolidation</a:t>
            </a:r>
            <a:endParaRPr lang="en-US" sz="12200"/>
          </a:p>
          <a:p>
            <a:r>
              <a:rPr lang="en-US" sz="5400"/>
              <a:t>LOD1 - trunk decimate modifier+ Leaf card reduction + Scale for silhouette compensation</a:t>
            </a:r>
            <a:endParaRPr lang="en-US" sz="12200"/>
          </a:p>
          <a:p>
            <a:r>
              <a:rPr lang="en-US" sz="5400"/>
              <a:t>LOD2 -LOD1 with higher intensity</a:t>
            </a:r>
            <a:endParaRPr lang="en-US" sz="12200"/>
          </a:p>
          <a:p>
            <a:r>
              <a:rPr lang="en-US" sz="5400"/>
              <a:t>LOD3 –Crossing billboard imposter</a:t>
            </a:r>
            <a:endParaRPr lang="en-US" sz="12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标题 1"/>
          <p:cNvSpPr>
            <a:spLocks noGrp="1"/>
          </p:cNvSpPr>
          <p:nvPr>
            <p:ph type="title"/>
          </p:nvPr>
        </p:nvSpPr>
        <p:spPr>
          <a:xfrm>
            <a:off x="685800" y="221766"/>
            <a:ext cx="10515600" cy="1325563"/>
          </a:xfrm>
          <a:prstGeom prst="rect">
            <a:avLst/>
          </a:prstGeom>
        </p:spPr>
        <p:txBody>
          <a:bodyPr/>
          <a:lstStyle/>
          <a:p>
            <a:pPr marL="0" indent="0">
              <a:buFont typeface="Arial"/>
              <a:buNone/>
            </a:pPr>
            <a:r>
              <a:rPr lang="en-US"/>
              <a:t>Performance analysis - Screen-Size-Based</a:t>
            </a:r>
            <a:r>
              <a:rPr lang="en-US" b="1"/>
              <a:t> </a:t>
            </a:r>
            <a:r>
              <a:rPr lang="en-US"/>
              <a:t>LOD selection</a:t>
            </a:r>
          </a:p>
        </p:txBody>
      </p:sp>
      <p:sp>
        <p:nvSpPr>
          <p:cNvPr id="100" name="内容占位符 2"/>
          <p:cNvSpPr txBox="1"/>
          <p:nvPr/>
        </p:nvSpPr>
        <p:spPr>
          <a:xfrm>
            <a:off x="8680916" y="1533456"/>
            <a:ext cx="3183834" cy="460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8770" lnSpcReduction="984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/>
          </a:p>
        </p:txBody>
      </p:sp>
      <p:pic>
        <p:nvPicPr>
          <p:cNvPr id="101" name="Picture 1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90600" y="1763643"/>
            <a:ext cx="5180474" cy="2812620"/>
          </a:xfrm>
          <a:prstGeom prst="rect">
            <a:avLst/>
          </a:prstGeom>
        </p:spPr>
      </p:pic>
      <p:sp>
        <p:nvSpPr>
          <p:cNvPr id="102" name="标题 1"/>
          <p:cNvSpPr/>
          <p:nvPr/>
        </p:nvSpPr>
        <p:spPr>
          <a:xfrm>
            <a:off x="913274" y="4648200"/>
            <a:ext cx="10515600" cy="1325563"/>
          </a:xfrm>
          <a:prstGeom prst="rect">
            <a:avLst/>
          </a:prstGeom>
        </p:spPr>
        <p:txBody>
          <a:bodyPr anchor="ctr"/>
          <a:lstStyle/>
          <a:p>
            <a:pPr marL="0" indent="0">
              <a:buFont typeface="Arial"/>
              <a:buNone/>
            </a:pPr>
            <a:r>
              <a:rPr lang="en-US"/>
              <a:t>Traditional distance based LOD selection will cause objects of different sizes to show the same LOD level at the same distance, although they are occupying different percentage of the screen.</a:t>
            </a:r>
          </a:p>
          <a:p>
            <a:pPr marL="0" indent="0">
              <a:buFont typeface="Arial"/>
              <a:buNone/>
            </a:pPr>
            <a:r>
              <a:rPr lang="en-US"/>
              <a:t>For example, a mountain and a tree at the same distance with the camera should not use the same LOD level because they take a completely different percentage of the total screen.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标题 1"/>
          <p:cNvSpPr>
            <a:spLocks noGrp="1"/>
          </p:cNvSpPr>
          <p:nvPr>
            <p:ph type="title"/>
          </p:nvPr>
        </p:nvSpPr>
        <p:spPr>
          <a:xfrm>
            <a:off x="457200" y="207893"/>
            <a:ext cx="10515600" cy="1325563"/>
          </a:xfrm>
          <a:prstGeom prst="rect">
            <a:avLst/>
          </a:prstGeom>
        </p:spPr>
        <p:txBody>
          <a:bodyPr/>
          <a:lstStyle/>
          <a:p>
            <a:pPr marL="0" indent="0">
              <a:buFont typeface="Arial"/>
              <a:buNone/>
            </a:pPr>
            <a:r>
              <a:rPr lang="en-US"/>
              <a:t>Performance analysis -  Instancing</a:t>
            </a:r>
          </a:p>
          <a:p>
            <a:pPr marL="0" indent="0">
              <a:buFont typeface="Arial"/>
              <a:buNone/>
            </a:pPr>
            <a:r>
              <a:rPr lang="en-US"/>
              <a:t>To remove VRAM overhead and enable parallelism</a:t>
            </a:r>
          </a:p>
        </p:txBody>
      </p:sp>
      <p:pic>
        <p:nvPicPr>
          <p:cNvPr id="104" name="Picture 3" descr="20261019-233832.jp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57200" y="1959880"/>
            <a:ext cx="5638800" cy="935720"/>
          </a:xfrm>
          <a:prstGeom prst="rect">
            <a:avLst/>
          </a:prstGeom>
        </p:spPr>
      </p:pic>
      <p:pic>
        <p:nvPicPr>
          <p:cNvPr id="106" name="Picture 4" descr="20261019-233935.jp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2971800"/>
            <a:ext cx="4587574" cy="2346960"/>
          </a:xfrm>
          <a:prstGeom prst="rect">
            <a:avLst/>
          </a:prstGeom>
        </p:spPr>
      </p:pic>
      <p:sp>
        <p:nvSpPr>
          <p:cNvPr id="107" name="Arrow 5"/>
          <p:cNvSpPr/>
          <p:nvPr/>
        </p:nvSpPr>
        <p:spPr>
          <a:xfrm>
            <a:off x="5715000" y="3276600"/>
            <a:ext cx="1073475" cy="745314"/>
          </a:xfrm>
          <a:prstGeom prst="rightArrow">
            <a:avLst>
              <a:gd name="adj1" fmla="val 38358"/>
              <a:gd name="adj2" fmla="val 4141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pic>
        <p:nvPicPr>
          <p:cNvPr id="109" name="Picture 6" descr="20261019-234045.jp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086600" y="2232660"/>
            <a:ext cx="3368665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Technologies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396041"/>
            <a:ext cx="10448855" cy="5113202"/>
          </a:xfrm>
          <a:prstGeom prst="rect">
            <a:avLst/>
          </a:prstGeom>
        </p:spPr>
        <p:txBody>
          <a:bodyPr>
            <a:normAutofit fontScale="68953" lnSpcReduction="20000"/>
          </a:bodyPr>
          <a:lstStyle/>
          <a:p>
            <a:r>
              <a:rPr lang="en-US" sz="4800"/>
              <a:t>Renderer architecture</a:t>
            </a:r>
            <a:endParaRPr sz="4800"/>
          </a:p>
          <a:p>
            <a:r>
              <a:rPr lang="en-US" sz="4800"/>
              <a:t>Render Graph deepdive</a:t>
            </a:r>
          </a:p>
          <a:p>
            <a:r>
              <a:rPr lang="en-US" sz="4800"/>
              <a:t>MCP for blender</a:t>
            </a:r>
          </a:p>
          <a:p>
            <a:r>
              <a:rPr lang="en-US" sz="4800"/>
              <a:t>GLTF/GLB file extension</a:t>
            </a:r>
            <a:endParaRPr sz="4800"/>
          </a:p>
          <a:p>
            <a:r>
              <a:rPr lang="en-US" sz="4800"/>
              <a:t>Android OS/ ADB debugging/ APK file extension/ Cross compiling</a:t>
            </a:r>
            <a:endParaRPr sz="4800"/>
          </a:p>
          <a:p>
            <a:r>
              <a:rPr lang="en-US" sz="4800"/>
              <a:t>Rust</a:t>
            </a:r>
            <a:endParaRPr sz="4800"/>
          </a:p>
          <a:p>
            <a:r>
              <a:rPr lang="en-US" sz="4800"/>
              <a:t>LLVM cross compilation</a:t>
            </a:r>
            <a:endParaRPr sz="4800"/>
          </a:p>
          <a:p>
            <a:r>
              <a:rPr lang="en-US" sz="4800"/>
              <a:t>Lua</a:t>
            </a:r>
            <a:endParaRPr sz="4800"/>
          </a:p>
          <a:p>
            <a:r>
              <a:rPr lang="en-US" sz="4800"/>
              <a:t>WSGL</a:t>
            </a:r>
          </a:p>
          <a:p>
            <a:r>
              <a:rPr lang="en-US" sz="4800"/>
              <a:t>Botaniq blender plugin for plant resources</a:t>
            </a:r>
            <a:endParaRPr sz="4800"/>
          </a:p>
        </p:txBody>
      </p:sp>
      <p:sp>
        <p:nvSpPr>
          <p:cNvPr id="4" name="内容占位符 2"/>
          <p:cNvSpPr txBox="1"/>
          <p:nvPr/>
        </p:nvSpPr>
        <p:spPr>
          <a:xfrm>
            <a:off x="1126435" y="4146412"/>
            <a:ext cx="4842013" cy="27960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Renderer architecture</a:t>
            </a:r>
            <a:endParaRPr lang="zh-CN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90600" y="1371600"/>
            <a:ext cx="5821874" cy="4678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3900" y="66951"/>
            <a:ext cx="7872795" cy="1062272"/>
          </a:xfrm>
          <a:prstGeom prst="rect">
            <a:avLst/>
          </a:prstGeom>
        </p:spPr>
        <p:txBody>
          <a:bodyPr/>
          <a:lstStyle/>
          <a:p>
            <a:r>
              <a:rPr lang="en-US" sz="5400"/>
              <a:t>Render graph deep dive</a:t>
            </a:r>
            <a:endParaRPr sz="540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77957" y="1824867"/>
            <a:ext cx="4237360" cy="4416908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257800" y="1734793"/>
            <a:ext cx="3551683" cy="5033133"/>
          </a:xfrm>
          <a:prstGeom prst="rect">
            <a:avLst/>
          </a:prstGeom>
        </p:spPr>
      </p:pic>
      <p:sp>
        <p:nvSpPr>
          <p:cNvPr id="12" name="标题 1"/>
          <p:cNvSpPr txBox="1"/>
          <p:nvPr/>
        </p:nvSpPr>
        <p:spPr>
          <a:xfrm>
            <a:off x="5295874" y="1392514"/>
            <a:ext cx="2469875" cy="3422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3445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Per mesh Cook-Torrance BRDF</a:t>
            </a:r>
          </a:p>
        </p:txBody>
      </p:sp>
      <p:sp>
        <p:nvSpPr>
          <p:cNvPr id="14" name="标题 1"/>
          <p:cNvSpPr txBox="1"/>
          <p:nvPr/>
        </p:nvSpPr>
        <p:spPr>
          <a:xfrm>
            <a:off x="798444" y="1392514"/>
            <a:ext cx="2469875" cy="3422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Whole render graph</a:t>
            </a:r>
          </a:p>
        </p:txBody>
      </p:sp>
      <p:sp>
        <p:nvSpPr>
          <p:cNvPr id="15" name="Rectangle 14"/>
          <p:cNvSpPr/>
          <p:nvPr/>
        </p:nvSpPr>
        <p:spPr>
          <a:xfrm flipV="1">
            <a:off x="1247362" y="3429000"/>
            <a:ext cx="1823830" cy="24350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/>
          <p:cNvSpPr/>
          <p:nvPr/>
        </p:nvSpPr>
        <p:spPr>
          <a:xfrm>
            <a:off x="3170565" y="3473727"/>
            <a:ext cx="2365531" cy="243509"/>
          </a:xfrm>
          <a:prstGeom prst="rightArrow">
            <a:avLst>
              <a:gd name="adj1" fmla="val 47260"/>
              <a:gd name="adj2" fmla="val 787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MCP for Blender</a:t>
            </a:r>
            <a:endParaRPr lang="zh-C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24320" y="1201324"/>
            <a:ext cx="5633580" cy="503794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216694" y="1201324"/>
            <a:ext cx="3867648" cy="281408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216694" y="4015409"/>
            <a:ext cx="5813342" cy="19580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GLTF/GLB extension</a:t>
            </a:r>
            <a:endParaRPr lang="zh-C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081652" y="1496341"/>
            <a:ext cx="4495833" cy="42529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Android OS</a:t>
            </a:r>
            <a:endParaRPr lang="zh-C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504519" y="1322940"/>
            <a:ext cx="5182962" cy="531077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Rust</a:t>
            </a:r>
            <a:endParaRPr lang="zh-CN"/>
          </a:p>
        </p:txBody>
      </p:sp>
      <p:sp>
        <p:nvSpPr>
          <p:cNvPr id="3" name="标题 1"/>
          <p:cNvSpPr txBox="1"/>
          <p:nvPr/>
        </p:nvSpPr>
        <p:spPr>
          <a:xfrm>
            <a:off x="838200" y="1441863"/>
            <a:ext cx="992587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/>
              <a:t>Rust is a “evolved” version of cpp which enables memory efficiency by avoiding GC and safety through compilation safety rules.</a:t>
            </a:r>
          </a:p>
          <a:p>
            <a:endParaRPr lang="en-US" sz="2000"/>
          </a:p>
          <a:p>
            <a:r>
              <a:rPr lang="en-US" sz="2000"/>
              <a:t>The language is harder to write and compile compared to CPP due to the additional syntax rules but much easier to maintain later than cpp.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WGSL</a:t>
            </a:r>
            <a:endParaRPr lang="zh-C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688503" y="1595230"/>
            <a:ext cx="6036099" cy="455709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LLVM cross compilation</a:t>
            </a:r>
            <a:endParaRPr lang="zh-C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标题 1"/>
              <p:cNvSpPr txBox="1"/>
              <p:nvPr/>
            </p:nvSpPr>
            <p:spPr>
              <a:xfrm>
                <a:off x="897835" y="1302716"/>
                <a:ext cx="10515600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1700"/>
                  <a:t>LLVM works on a lot of different languages by using the LLVM IR as the bridge between the target platform code and the source code.</a:t>
                </a:r>
              </a:p>
              <a:p>
                <a:r>
                  <a:rPr lang="en-US" sz="1700"/>
                  <a:t>Decoupled Architecture: This reduces the implementation complexity from an </a:t>
                </a:r>
                <a14:m xmlns:a14="http://schemas.microsoft.com/office/drawing/2010/main">
                  <m:oMath xmlns:m="http://schemas.openxmlformats.org/officeDocument/2006/math" xmlns:a="http://schemas.openxmlformats.org/drawingml/2006/main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/>
                  <a:t> (for </a:t>
                </a:r>
                <a14:m xmlns:a14="http://schemas.microsoft.com/office/drawing/2010/main">
                  <m:oMath xmlns:m="http://schemas.openxmlformats.org/officeDocument/2006/math" xmlns:a="http://schemas.openxmlformats.org/drawingml/2006/main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700"/>
                  <a:t> languages and </a:t>
                </a:r>
                <a14:m xmlns:a14="http://schemas.microsoft.com/office/drawing/2010/main">
                  <m:oMath xmlns:m="http://schemas.openxmlformats.org/officeDocument/2006/math" xmlns:a="http://schemas.openxmlformats.org/drawingml/2006/main"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/>
                  <a:t> hardware architectures) down to </a:t>
                </a:r>
                <a14:m xmlns:a14="http://schemas.microsoft.com/office/drawing/2010/main">
                  <m:oMath xmlns:m="http://schemas.openxmlformats.org/officeDocument/2006/math" xmlns:a="http://schemas.openxmlformats.org/drawingml/2006/main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/>
                  <a:t>.</a:t>
                </a:r>
                <a:endParaRPr lang="zh-CN" sz="1700"/>
              </a:p>
            </p:txBody>
          </p:sp>
        </mc:Choice>
        <mc:Fallback>
          <p:sp>
            <p:nvSpPr>
              <p:cNvPr id="3" name="标题 1"/>
              <p:cNvSpPr txBox="1"/>
              <p:nvPr/>
            </p:nvSpPr>
            <p:spPr>
              <a:xfrm>
                <a:off x="897835" y="1302716"/>
                <a:ext cx="10515600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1700"/>
                  <a:t>LLVM works on a lot of different languages by using the LLVM IR as the bridge between the target platform code and the source code.</a:t>
                </a:r>
              </a:p>
              <a:p>
                <a:r>
                  <a:rPr lang="en-US" sz="1700"/>
                  <a:t>Decoupled Architecture: This reduces the implementation complexity from an </a:t>
                </a:r>
                <a:r>
                  <a:rPr/>
                  <a:t>𝑛×𝑚</a:t>
                </a:r>
                <a:r>
                  <a:rPr lang="en-US" sz="1700"/>
                  <a:t> (for </a:t>
                </a:r>
                <a:r>
                  <a:rPr/>
                  <a:t>𝑛</a:t>
                </a:r>
                <a:r>
                  <a:rPr lang="en-US" sz="1700"/>
                  <a:t> languages and </a:t>
                </a:r>
                <a:r>
                  <a:rPr/>
                  <a:t>𝑚</a:t>
                </a:r>
                <a:r>
                  <a:rPr lang="en-US" sz="1700"/>
                  <a:t> hardware architectures) down to </a:t>
                </a:r>
                <a:r>
                  <a:rPr/>
                  <a:t>𝑛+𝑚</a:t>
                </a:r>
                <a:r>
                  <a:rPr lang="en-US" sz="1700"/>
                  <a:t>.</a:t>
                </a:r>
                <a:endParaRPr lang="zh-CN" sz="1700"/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97835" y="2628279"/>
            <a:ext cx="5642113" cy="299239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Lua</a:t>
            </a:r>
            <a:endParaRPr lang="zh-C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70892" y="2077357"/>
            <a:ext cx="1782332" cy="1351643"/>
          </a:xfrm>
          <a:prstGeom prst="rect">
            <a:avLst/>
          </a:prstGeom>
        </p:spPr>
      </p:pic>
      <p:sp>
        <p:nvSpPr>
          <p:cNvPr id="6" name="标题 1"/>
          <p:cNvSpPr txBox="1"/>
          <p:nvPr/>
        </p:nvSpPr>
        <p:spPr>
          <a:xfrm>
            <a:off x="617883" y="1571248"/>
            <a:ext cx="10903225" cy="6153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/>
              <a:t>Superficially, it’s very similar to python—both are dynamic, garbage-collected, interpreted-bytecode scripting languages written in C with first-class functions.</a:t>
            </a:r>
          </a:p>
          <a:p>
            <a:endParaRPr lang="zh-CN" sz="1600"/>
          </a:p>
        </p:txBody>
      </p:sp>
      <p:sp>
        <p:nvSpPr>
          <p:cNvPr id="8" name="标题 1"/>
          <p:cNvSpPr txBox="1"/>
          <p:nvPr/>
        </p:nvSpPr>
        <p:spPr>
          <a:xfrm>
            <a:off x="617883" y="3518452"/>
            <a:ext cx="10515600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/>
              <a:t>Architecturally and philosophically, they are near-opposites: Python is a standalone, "batteries-included" monolith built around rich object-oriented abstractions and an enormous standard library,</a:t>
            </a:r>
          </a:p>
          <a:p>
            <a:r>
              <a:rPr lang="en-US" sz="1600"/>
              <a:t>while Lua is an ultra-minimal, embeddable configuration-and-scripting library with only one data structure and no native class mechanism.</a:t>
            </a:r>
            <a:endParaRPr lang="zh-CN" sz="160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0892" y="4450689"/>
            <a:ext cx="2339757" cy="1896217"/>
          </a:xfrm>
          <a:prstGeom prst="rect">
            <a:avLst/>
          </a:prstGeom>
        </p:spPr>
      </p:pic>
      <p:sp>
        <p:nvSpPr>
          <p:cNvPr id="12" name="标题 1"/>
          <p:cNvSpPr txBox="1"/>
          <p:nvPr/>
        </p:nvSpPr>
        <p:spPr>
          <a:xfrm>
            <a:off x="3063658" y="4282108"/>
            <a:ext cx="6660984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/>
              <a:t>The only data structure in Lua is table which combines array and hash table</a:t>
            </a:r>
            <a:endParaRPr lang="zh-CN" sz="1600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152363" y="4916996"/>
            <a:ext cx="1570820" cy="13901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Botaniq</a:t>
            </a:r>
            <a:endParaRPr lang="zh-C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544173" y="1406387"/>
            <a:ext cx="9176836" cy="50181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 the end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457877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About my career plan</a:t>
            </a:r>
          </a:p>
          <a:p>
            <a:r>
              <a:rPr lang="en-US"/>
              <a:t>About understanding the fundamental ( like the BSDF and PBR from a deeper level)</a:t>
            </a:r>
          </a:p>
          <a:p>
            <a:r>
              <a:rPr lang="en-US"/>
              <a:t>About AI usage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343400" y="1295400"/>
            <a:ext cx="1088647" cy="68349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581400" y="2667000"/>
            <a:ext cx="1479772" cy="96654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Thanks</a:t>
            </a:r>
            <a:endParaRPr 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20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Tyrion Bao</dc:creator>
  <cp:lastModifiedBy>Tyrion Bao</cp:lastModifiedBy>
  <cp:revision>2</cp:revision>
  <dcterms:created xsi:type="dcterms:W3CDTF">2026-10-02T07:39:55Z</dcterms:created>
  <dcterms:modified xsi:type="dcterms:W3CDTF">2026-10-19T14:56:11Z</dcterms:modified>
</cp:coreProperties>
</file>